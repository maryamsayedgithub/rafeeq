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في هذه الجلسة سنناقش كيف تحول النباتات ضوء الشمس إلى طاقة كيميائية مخزنة. البناء الضوئي ليس مجرد عملية نباتية، بل هو المحرك الأساسي للحياة على كوكبنا. سنركز على توضيح المفاهيم الأساسية وتصحيح بعض المفاهيم الخاطئة الشائعة حول نواتج هذه العملية.</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من المهم جداً التمييز بين البلاستيدات الخضراء والميتوكوندريا، حيث يخلط بعض الطلاب بينهما. البلاستيدات هي المسؤولة عن البناء الضوئي، بينما الميتوكوندريا مسؤولة عن التنفس الخلوي. الكلوروفيل الموجود داخل الثايلاكويدات هو الذي يمنح النبات لونه الأخضر ويقوم بامتصاص الطاقة الضوئية.</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في هذه المرحلة، نستخدم الطاقة الشمسية لشطر الماء وتوليد طاقة كيميائية مؤقتة. هذه الطاقة هي الوقود الذي سيحرك دورة كالفن لاحقاً. لا تنسوا أن الأكسجين الذي نتنفسه هو ناتج ثانوي لهذه المرحلة تحديداً.</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دورة كالفن هي المرحلة التي يتم فيها بناء الغذاء الفعلي. يخطئ البعض بالاعتقاد أن البروتين هو الناتج الرئيسي، لكن الحقيقة هي الجلوكوز. النبات يمتص ثاني أكسيد الكربون وليس الأكسجين في هذه المرحلة لتصنيع السكريات.</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تتأثر كفاءة البناء الضوئي بعدة عوامل بيئية. إذا زادت شدة الضوء عن حد معين، قد لا تزيد سرعة العملية بسبب محدودية العوامل الأخرى. الحرارة تؤثر على الإنزيمات، فإذا ارتفعت جداً قد تتلف وتتوقف العملية تماماً.</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في هذا النشاط، سنقوم بمحاكاة تجربة علمية لتحديد العامل المحدود. سنغير شدة الضوء ونقيس فقاعات الأكسجين الناتجة. الهدف هو فهم كيف يمكن لعامل واحد أن يصبح عنق زجاجة يمنع زيادة معدل البناء الضوئي.</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minute to answer before showing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minute to answer before showing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minute to answer before showing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ختاماً، تذكروا أن البلاستيدات هي المصنع، والجلوكوز هو المنتج، وثاني أكسيد الكربون هو المادة الخام. راجعوا هذه النقاط جيداً لتجنب الأخطاء الشائعة التي ناقشناها. شكراً لحسن استماعكم، هل لديكم أي أسئلة إضافية؟</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14400" y="2148840"/>
            <a:ext cx="1005840" cy="82296"/>
          </a:xfrm>
          <a:prstGeom prst="rect">
            <a:avLst/>
          </a:prstGeom>
          <a:solidFill>
            <a:srgbClr val="FFE0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10058400" cy="411480"/>
          </a:xfrm>
          <a:prstGeom prst="rect">
            <a:avLst/>
          </a:prstGeom>
          <a:noFill/>
        </p:spPr>
        <p:txBody>
          <a:bodyPr wrap="square" anchor="t" lIns="0" rIns="0" tIns="0" bIns="0">
            <a:spAutoFit/>
          </a:bodyPr>
          <a:lstStyle/>
          <a:p>
            <a:pPr algn="l"/>
            <a:r>
              <a:rPr sz="1600" b="1">
                <a:solidFill>
                  <a:srgbClr val="B8C1D9"/>
                </a:solidFill>
                <a:latin typeface="Segoe UI"/>
              </a:rPr>
              <a:t>TEST</a:t>
            </a:r>
          </a:p>
        </p:txBody>
      </p:sp>
      <p:sp>
        <p:nvSpPr>
          <p:cNvPr id="6" name="TextBox 5"/>
          <p:cNvSpPr txBox="1"/>
          <p:nvPr/>
        </p:nvSpPr>
        <p:spPr>
          <a:xfrm>
            <a:off x="914400" y="2468880"/>
            <a:ext cx="10332720" cy="2194560"/>
          </a:xfrm>
          <a:prstGeom prst="rect">
            <a:avLst/>
          </a:prstGeom>
          <a:noFill/>
        </p:spPr>
        <p:txBody>
          <a:bodyPr wrap="square" anchor="t" lIns="0" rIns="0" tIns="0" bIns="0">
            <a:spAutoFit/>
          </a:bodyPr>
          <a:lstStyle/>
          <a:p>
            <a:pPr algn="r" rtl="1"/>
            <a:r>
              <a:rPr sz="4800" b="1">
                <a:solidFill>
                  <a:srgbClr val="FFFFFF"/>
                </a:solidFill>
                <a:latin typeface="Segoe UI"/>
              </a:rPr>
              <a:t>البناء الضوئي</a:t>
            </a:r>
          </a:p>
        </p:txBody>
      </p:sp>
      <p:sp>
        <p:nvSpPr>
          <p:cNvPr id="7" name="TextBox 6"/>
          <p:cNvSpPr txBox="1"/>
          <p:nvPr/>
        </p:nvSpPr>
        <p:spPr>
          <a:xfrm>
            <a:off x="914400" y="4892040"/>
            <a:ext cx="10058400" cy="457200"/>
          </a:xfrm>
          <a:prstGeom prst="rect">
            <a:avLst/>
          </a:prstGeom>
          <a:noFill/>
        </p:spPr>
        <p:txBody>
          <a:bodyPr wrap="square" anchor="t" lIns="0" rIns="0" tIns="0" bIns="0">
            <a:spAutoFit/>
          </a:bodyPr>
          <a:lstStyle/>
          <a:p>
            <a:pPr algn="r" rtl="1"/>
            <a:r>
              <a:rPr sz="2200" b="0">
                <a:solidFill>
                  <a:srgbClr val="FFFFFF"/>
                </a:solidFill>
                <a:latin typeface="Segoe UI"/>
              </a:rPr>
              <a:t>د. منى</a:t>
            </a:r>
          </a:p>
        </p:txBody>
      </p:sp>
      <p:sp>
        <p:nvSpPr>
          <p:cNvPr id="8" name="TextBox 7"/>
          <p:cNvSpPr txBox="1"/>
          <p:nvPr/>
        </p:nvSpPr>
        <p:spPr>
          <a:xfrm>
            <a:off x="640080" y="6309360"/>
            <a:ext cx="8229600" cy="320040"/>
          </a:xfrm>
          <a:prstGeom prst="rect">
            <a:avLst/>
          </a:prstGeom>
          <a:noFill/>
        </p:spPr>
        <p:txBody>
          <a:bodyPr wrap="square" anchor="t" lIns="0" rIns="0" tIns="0" bIns="0">
            <a:spAutoFit/>
          </a:bodyPr>
          <a:lstStyle/>
          <a:p>
            <a:pPr algn="l"/>
            <a:r>
              <a:rPr sz="1200" b="0">
                <a:solidFill>
                  <a:srgbClr val="B8C1D9"/>
                </a:solidFill>
                <a:latin typeface="Segoe UI"/>
              </a:rPr>
              <a:t/>
            </a:r>
          </a:p>
        </p:txBody>
      </p:sp>
      <p:sp>
        <p:nvSpPr>
          <p:cNvPr id="9" name="TextBox 8"/>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B8C1D9"/>
                </a:solidFill>
                <a:latin typeface="Segoe UI"/>
              </a:rPr>
              <a:t>1 / 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66928"/>
            <a:ext cx="10545775" cy="868680"/>
          </a:xfrm>
          <a:prstGeom prst="rect">
            <a:avLst/>
          </a:prstGeom>
          <a:noFill/>
        </p:spPr>
        <p:txBody>
          <a:bodyPr wrap="square" anchor="ctr" lIns="0" rIns="0" tIns="0" bIns="0">
            <a:spAutoFit/>
          </a:bodyPr>
          <a:lstStyle/>
          <a:p>
            <a:pPr algn="r" rtl="1"/>
            <a:r>
              <a:rPr sz="3000" b="1">
                <a:solidFill>
                  <a:srgbClr val="1B2540"/>
                </a:solidFill>
                <a:latin typeface="Segoe UI"/>
              </a:rPr>
              <a:t>مقدمة في البناء الضوئي</a:t>
            </a:r>
          </a:p>
        </p:txBody>
      </p:sp>
      <p:sp>
        <p:nvSpPr>
          <p:cNvPr id="5" name="Rectangle 4"/>
          <p:cNvSpPr/>
          <p:nvPr/>
        </p:nvSpPr>
        <p:spPr>
          <a:xfrm>
            <a:off x="11405311" y="200253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74519"/>
            <a:ext cx="10545775" cy="868680"/>
          </a:xfrm>
          <a:prstGeom prst="rect">
            <a:avLst/>
          </a:prstGeom>
          <a:noFill/>
        </p:spPr>
        <p:txBody>
          <a:bodyPr wrap="square" anchor="t" lIns="0" rIns="0" tIns="0" bIns="0">
            <a:spAutoFit/>
          </a:bodyPr>
          <a:lstStyle/>
          <a:p>
            <a:pPr algn="r" rtl="1"/>
            <a:r>
              <a:rPr sz="2400" b="0">
                <a:solidFill>
                  <a:srgbClr val="1B2540"/>
                </a:solidFill>
                <a:latin typeface="Segoe UI"/>
              </a:rPr>
              <a:t>البناء الضوئي هو عملية تحويل الطاقة الضوئية إلى طاقة كيميائية.</a:t>
            </a:r>
          </a:p>
        </p:txBody>
      </p:sp>
      <p:sp>
        <p:nvSpPr>
          <p:cNvPr id="7" name="Rectangle 6"/>
          <p:cNvSpPr/>
          <p:nvPr/>
        </p:nvSpPr>
        <p:spPr>
          <a:xfrm>
            <a:off x="11405311" y="287121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743200"/>
            <a:ext cx="10545775" cy="868680"/>
          </a:xfrm>
          <a:prstGeom prst="rect">
            <a:avLst/>
          </a:prstGeom>
          <a:noFill/>
        </p:spPr>
        <p:txBody>
          <a:bodyPr wrap="square" anchor="t" lIns="0" rIns="0" tIns="0" bIns="0">
            <a:spAutoFit/>
          </a:bodyPr>
          <a:lstStyle/>
          <a:p>
            <a:pPr algn="r" rtl="1"/>
            <a:r>
              <a:rPr sz="2400" b="0">
                <a:solidFill>
                  <a:srgbClr val="1B2540"/>
                </a:solidFill>
                <a:latin typeface="Segoe UI"/>
              </a:rPr>
              <a:t>النباتات ذاتية التغذية تعتمد على هذه العملية لإنتاج الغذاء.</a:t>
            </a:r>
          </a:p>
        </p:txBody>
      </p:sp>
      <p:sp>
        <p:nvSpPr>
          <p:cNvPr id="9" name="Rectangle 8"/>
          <p:cNvSpPr/>
          <p:nvPr/>
        </p:nvSpPr>
        <p:spPr>
          <a:xfrm>
            <a:off x="11405311" y="373989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611879"/>
            <a:ext cx="10545775" cy="868680"/>
          </a:xfrm>
          <a:prstGeom prst="rect">
            <a:avLst/>
          </a:prstGeom>
          <a:noFill/>
        </p:spPr>
        <p:txBody>
          <a:bodyPr wrap="square" anchor="t" lIns="0" rIns="0" tIns="0" bIns="0">
            <a:spAutoFit/>
          </a:bodyPr>
          <a:lstStyle/>
          <a:p>
            <a:pPr algn="r" rtl="1"/>
            <a:r>
              <a:rPr sz="2400" b="0">
                <a:solidFill>
                  <a:srgbClr val="1B2540"/>
                </a:solidFill>
                <a:latin typeface="Segoe UI"/>
              </a:rPr>
              <a:t>تنتج العملية الأكسجين الضروري لحياة الكائنات الحية على الأرض.</a:t>
            </a:r>
          </a:p>
        </p:txBody>
      </p:sp>
      <p:sp>
        <p:nvSpPr>
          <p:cNvPr id="11" name="Rectangle 10"/>
          <p:cNvSpPr/>
          <p:nvPr/>
        </p:nvSpPr>
        <p:spPr>
          <a:xfrm>
            <a:off x="11405311" y="4608575"/>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4480559"/>
            <a:ext cx="10545775" cy="868680"/>
          </a:xfrm>
          <a:prstGeom prst="rect">
            <a:avLst/>
          </a:prstGeom>
          <a:noFill/>
        </p:spPr>
        <p:txBody>
          <a:bodyPr wrap="square" anchor="t" lIns="0" rIns="0" tIns="0" bIns="0">
            <a:spAutoFit/>
          </a:bodyPr>
          <a:lstStyle/>
          <a:p>
            <a:pPr algn="r" rtl="1"/>
            <a:r>
              <a:rPr sz="2400" b="0">
                <a:solidFill>
                  <a:srgbClr val="1B2540"/>
                </a:solidFill>
                <a:latin typeface="Segoe UI"/>
              </a:rPr>
              <a:t>تعتبر العملية الأساس لتدفق الطاقة في جميع السلاسل الغذائية.</a:t>
            </a:r>
          </a:p>
        </p:txBody>
      </p:sp>
      <p:sp>
        <p:nvSpPr>
          <p:cNvPr id="13" name="Rectangle 12"/>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د. منى · test</a:t>
            </a:r>
          </a:p>
        </p:txBody>
      </p:sp>
      <p:sp>
        <p:nvSpPr>
          <p:cNvPr id="15" name="TextBox 14"/>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2 / 14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66928"/>
            <a:ext cx="10545775" cy="868680"/>
          </a:xfrm>
          <a:prstGeom prst="rect">
            <a:avLst/>
          </a:prstGeom>
          <a:noFill/>
        </p:spPr>
        <p:txBody>
          <a:bodyPr wrap="square" anchor="ctr" lIns="0" rIns="0" tIns="0" bIns="0">
            <a:spAutoFit/>
          </a:bodyPr>
          <a:lstStyle/>
          <a:p>
            <a:pPr algn="r" rtl="1"/>
            <a:r>
              <a:rPr sz="3000" b="1">
                <a:solidFill>
                  <a:srgbClr val="1B2540"/>
                </a:solidFill>
                <a:latin typeface="Segoe UI"/>
              </a:rPr>
              <a:t>المكونات الخلوية: البلاستيدات الخضراء</a:t>
            </a:r>
          </a:p>
        </p:txBody>
      </p:sp>
      <p:sp>
        <p:nvSpPr>
          <p:cNvPr id="5" name="Rectangle 4"/>
          <p:cNvSpPr/>
          <p:nvPr/>
        </p:nvSpPr>
        <p:spPr>
          <a:xfrm>
            <a:off x="6604235" y="200253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74519"/>
            <a:ext cx="5744699" cy="868680"/>
          </a:xfrm>
          <a:prstGeom prst="rect">
            <a:avLst/>
          </a:prstGeom>
          <a:noFill/>
        </p:spPr>
        <p:txBody>
          <a:bodyPr wrap="square" anchor="t" lIns="0" rIns="0" tIns="0" bIns="0">
            <a:spAutoFit/>
          </a:bodyPr>
          <a:lstStyle/>
          <a:p>
            <a:pPr algn="r" rtl="1"/>
            <a:r>
              <a:rPr sz="2400" b="0">
                <a:solidFill>
                  <a:srgbClr val="1B2540"/>
                </a:solidFill>
                <a:latin typeface="Segoe UI"/>
              </a:rPr>
              <a:t>تحدث عملية البناء الضوئي داخل عضيات تسمى البلاستيدات الخضراء.</a:t>
            </a:r>
          </a:p>
        </p:txBody>
      </p:sp>
      <p:sp>
        <p:nvSpPr>
          <p:cNvPr id="7" name="Rectangle 6"/>
          <p:cNvSpPr/>
          <p:nvPr/>
        </p:nvSpPr>
        <p:spPr>
          <a:xfrm>
            <a:off x="6604235" y="287121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743200"/>
            <a:ext cx="5744699" cy="868680"/>
          </a:xfrm>
          <a:prstGeom prst="rect">
            <a:avLst/>
          </a:prstGeom>
          <a:noFill/>
        </p:spPr>
        <p:txBody>
          <a:bodyPr wrap="square" anchor="t" lIns="0" rIns="0" tIns="0" bIns="0">
            <a:spAutoFit/>
          </a:bodyPr>
          <a:lstStyle/>
          <a:p>
            <a:pPr algn="r" rtl="1"/>
            <a:r>
              <a:rPr sz="2400" b="0">
                <a:solidFill>
                  <a:srgbClr val="1B2540"/>
                </a:solidFill>
                <a:latin typeface="Segoe UI"/>
              </a:rPr>
              <a:t>تحتوي البلاستيدات على صبغة الكلوروفيل لامتصاص ضوء الشمس.</a:t>
            </a:r>
          </a:p>
        </p:txBody>
      </p:sp>
      <p:sp>
        <p:nvSpPr>
          <p:cNvPr id="9" name="Rectangle 8"/>
          <p:cNvSpPr/>
          <p:nvPr/>
        </p:nvSpPr>
        <p:spPr>
          <a:xfrm>
            <a:off x="6604235" y="373989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611879"/>
            <a:ext cx="5744699" cy="868680"/>
          </a:xfrm>
          <a:prstGeom prst="rect">
            <a:avLst/>
          </a:prstGeom>
          <a:noFill/>
        </p:spPr>
        <p:txBody>
          <a:bodyPr wrap="square" anchor="t" lIns="0" rIns="0" tIns="0" bIns="0">
            <a:spAutoFit/>
          </a:bodyPr>
          <a:lstStyle/>
          <a:p>
            <a:pPr algn="r" rtl="1"/>
            <a:r>
              <a:rPr sz="2400" b="0">
                <a:solidFill>
                  <a:srgbClr val="1B2540"/>
                </a:solidFill>
                <a:latin typeface="Segoe UI"/>
              </a:rPr>
              <a:t>تتكون البلاستيدة من أغشية ثايلاكويد وسائل يسمى الستروما.</a:t>
            </a:r>
          </a:p>
        </p:txBody>
      </p:sp>
      <p:sp>
        <p:nvSpPr>
          <p:cNvPr id="11" name="Rectangle 10"/>
          <p:cNvSpPr/>
          <p:nvPr/>
        </p:nvSpPr>
        <p:spPr>
          <a:xfrm>
            <a:off x="6604235" y="4608575"/>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4480559"/>
            <a:ext cx="5744699" cy="868680"/>
          </a:xfrm>
          <a:prstGeom prst="rect">
            <a:avLst/>
          </a:prstGeom>
          <a:noFill/>
        </p:spPr>
        <p:txBody>
          <a:bodyPr wrap="square" anchor="t" lIns="0" rIns="0" tIns="0" bIns="0">
            <a:spAutoFit/>
          </a:bodyPr>
          <a:lstStyle/>
          <a:p>
            <a:pPr algn="r" rtl="1"/>
            <a:r>
              <a:rPr sz="2400" b="0">
                <a:solidFill>
                  <a:srgbClr val="1B2540"/>
                </a:solidFill>
                <a:latin typeface="Segoe UI"/>
              </a:rPr>
              <a:t>تذكر: البلاستيدات هي المصنع الحقيقي وليست الميتوكوندريا.</a:t>
            </a:r>
          </a:p>
        </p:txBody>
      </p:sp>
      <p:sp>
        <p:nvSpPr>
          <p:cNvPr id="13" name="Rounded Rectangle 12"/>
          <p:cNvSpPr/>
          <p:nvPr/>
        </p:nvSpPr>
        <p:spPr>
          <a:xfrm>
            <a:off x="7405231" y="1828799"/>
            <a:ext cx="4146383" cy="777240"/>
          </a:xfrm>
          <a:prstGeom prst="roundRect">
            <a:avLst/>
          </a:prstGeom>
          <a:solidFill>
            <a:srgbClr val="FFFFFF"/>
          </a:solidFill>
          <a:ln w="12700">
            <a:solidFill>
              <a:srgbClr val="3A5BD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1B2540"/>
                </a:solidFill>
                <a:latin typeface="Segoe UI"/>
              </a:rPr>
              <a:t>امتصاص الضوء بالكلوروفيل</a:t>
            </a:r>
          </a:p>
        </p:txBody>
      </p:sp>
      <p:sp>
        <p:nvSpPr>
          <p:cNvPr id="14" name="Down Arrow 13"/>
          <p:cNvSpPr/>
          <p:nvPr/>
        </p:nvSpPr>
        <p:spPr>
          <a:xfrm>
            <a:off x="9377839" y="2642615"/>
            <a:ext cx="201168" cy="201167"/>
          </a:xfrm>
          <a:prstGeom prst="downArrow">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405231" y="2880359"/>
            <a:ext cx="4146383" cy="777240"/>
          </a:xfrm>
          <a:prstGeom prst="roundRect">
            <a:avLst/>
          </a:prstGeom>
          <a:solidFill>
            <a:srgbClr val="FFFFFF"/>
          </a:solidFill>
          <a:ln w="12700">
            <a:solidFill>
              <a:srgbClr val="3A5BD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1B2540"/>
                </a:solidFill>
                <a:latin typeface="Segoe UI"/>
              </a:rPr>
              <a:t>تنشيط الإلكترونات</a:t>
            </a:r>
          </a:p>
        </p:txBody>
      </p:sp>
      <p:sp>
        <p:nvSpPr>
          <p:cNvPr id="16" name="Down Arrow 15"/>
          <p:cNvSpPr/>
          <p:nvPr/>
        </p:nvSpPr>
        <p:spPr>
          <a:xfrm>
            <a:off x="9377839" y="3694175"/>
            <a:ext cx="201168" cy="201167"/>
          </a:xfrm>
          <a:prstGeom prst="downArrow">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405231" y="3931920"/>
            <a:ext cx="4146383" cy="777240"/>
          </a:xfrm>
          <a:prstGeom prst="round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FFFFFF"/>
                </a:solidFill>
                <a:latin typeface="Segoe UI"/>
              </a:rPr>
              <a:t>تخزين الطاقة في الروابط</a:t>
            </a:r>
          </a:p>
        </p:txBody>
      </p:sp>
      <p:sp>
        <p:nvSpPr>
          <p:cNvPr id="18" name="Rectangle 17"/>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د. منى · test</a:t>
            </a:r>
          </a:p>
        </p:txBody>
      </p:sp>
      <p:sp>
        <p:nvSpPr>
          <p:cNvPr id="20" name="TextBox 19"/>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3 / 14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66928"/>
            <a:ext cx="10545775" cy="868680"/>
          </a:xfrm>
          <a:prstGeom prst="rect">
            <a:avLst/>
          </a:prstGeom>
          <a:noFill/>
        </p:spPr>
        <p:txBody>
          <a:bodyPr wrap="square" anchor="ctr" lIns="0" rIns="0" tIns="0" bIns="0">
            <a:spAutoFit/>
          </a:bodyPr>
          <a:lstStyle/>
          <a:p>
            <a:pPr algn="r" rtl="1"/>
            <a:r>
              <a:rPr sz="3000" b="1">
                <a:solidFill>
                  <a:srgbClr val="1B2540"/>
                </a:solidFill>
                <a:latin typeface="Segoe UI"/>
              </a:rPr>
              <a:t>التفاعلات الضوئية</a:t>
            </a:r>
          </a:p>
        </p:txBody>
      </p:sp>
      <p:sp>
        <p:nvSpPr>
          <p:cNvPr id="5" name="Rectangle 4"/>
          <p:cNvSpPr/>
          <p:nvPr/>
        </p:nvSpPr>
        <p:spPr>
          <a:xfrm>
            <a:off x="6604235" y="200253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74519"/>
            <a:ext cx="5744699" cy="868680"/>
          </a:xfrm>
          <a:prstGeom prst="rect">
            <a:avLst/>
          </a:prstGeom>
          <a:noFill/>
        </p:spPr>
        <p:txBody>
          <a:bodyPr wrap="square" anchor="t" lIns="0" rIns="0" tIns="0" bIns="0">
            <a:spAutoFit/>
          </a:bodyPr>
          <a:lstStyle/>
          <a:p>
            <a:pPr algn="r" rtl="1"/>
            <a:r>
              <a:rPr sz="2400" b="0">
                <a:solidFill>
                  <a:srgbClr val="1B2540"/>
                </a:solidFill>
                <a:latin typeface="Segoe UI"/>
              </a:rPr>
              <a:t>تحدث التفاعلات الضوئية في أغشية الثايلاكويد داخل البلاستيدة.</a:t>
            </a:r>
          </a:p>
        </p:txBody>
      </p:sp>
      <p:sp>
        <p:nvSpPr>
          <p:cNvPr id="7" name="Rectangle 6"/>
          <p:cNvSpPr/>
          <p:nvPr/>
        </p:nvSpPr>
        <p:spPr>
          <a:xfrm>
            <a:off x="6604235" y="287121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743200"/>
            <a:ext cx="5744699" cy="868680"/>
          </a:xfrm>
          <a:prstGeom prst="rect">
            <a:avLst/>
          </a:prstGeom>
          <a:noFill/>
        </p:spPr>
        <p:txBody>
          <a:bodyPr wrap="square" anchor="t" lIns="0" rIns="0" tIns="0" bIns="0">
            <a:spAutoFit/>
          </a:bodyPr>
          <a:lstStyle/>
          <a:p>
            <a:pPr algn="r" rtl="1"/>
            <a:r>
              <a:rPr sz="2400" b="0">
                <a:solidFill>
                  <a:srgbClr val="1B2540"/>
                </a:solidFill>
                <a:latin typeface="Segoe UI"/>
              </a:rPr>
              <a:t>يتم امتصاص ضوء الشمس وتحويله إلى طاقة كيميائية.</a:t>
            </a:r>
          </a:p>
        </p:txBody>
      </p:sp>
      <p:sp>
        <p:nvSpPr>
          <p:cNvPr id="9" name="Rectangle 8"/>
          <p:cNvSpPr/>
          <p:nvPr/>
        </p:nvSpPr>
        <p:spPr>
          <a:xfrm>
            <a:off x="6604235" y="373989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611879"/>
            <a:ext cx="5744699" cy="868680"/>
          </a:xfrm>
          <a:prstGeom prst="rect">
            <a:avLst/>
          </a:prstGeom>
          <a:noFill/>
        </p:spPr>
        <p:txBody>
          <a:bodyPr wrap="square" anchor="t" lIns="0" rIns="0" tIns="0" bIns="0">
            <a:spAutoFit/>
          </a:bodyPr>
          <a:lstStyle/>
          <a:p>
            <a:pPr algn="r" rtl="1"/>
            <a:r>
              <a:rPr sz="2400" b="0">
                <a:solidFill>
                  <a:srgbClr val="1B2540"/>
                </a:solidFill>
                <a:latin typeface="Segoe UI"/>
              </a:rPr>
              <a:t>ينتج عن هذه المرحلة جزيئات ATP و NADPH.</a:t>
            </a:r>
          </a:p>
        </p:txBody>
      </p:sp>
      <p:sp>
        <p:nvSpPr>
          <p:cNvPr id="11" name="Rectangle 10"/>
          <p:cNvSpPr/>
          <p:nvPr/>
        </p:nvSpPr>
        <p:spPr>
          <a:xfrm>
            <a:off x="6604235" y="4608575"/>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4480559"/>
            <a:ext cx="5744699" cy="868680"/>
          </a:xfrm>
          <a:prstGeom prst="rect">
            <a:avLst/>
          </a:prstGeom>
          <a:noFill/>
        </p:spPr>
        <p:txBody>
          <a:bodyPr wrap="square" anchor="t" lIns="0" rIns="0" tIns="0" bIns="0">
            <a:spAutoFit/>
          </a:bodyPr>
          <a:lstStyle/>
          <a:p>
            <a:pPr algn="r" rtl="1"/>
            <a:r>
              <a:rPr sz="2400" b="0">
                <a:solidFill>
                  <a:srgbClr val="1B2540"/>
                </a:solidFill>
                <a:latin typeface="Segoe UI"/>
              </a:rPr>
              <a:t>يتم شطر جزيئات الماء وإطلاق غاز الأكسجين كناتج ثانوي.</a:t>
            </a:r>
          </a:p>
        </p:txBody>
      </p:sp>
      <p:sp>
        <p:nvSpPr>
          <p:cNvPr id="13" name="Rounded Rectangle 12"/>
          <p:cNvSpPr/>
          <p:nvPr/>
        </p:nvSpPr>
        <p:spPr>
          <a:xfrm>
            <a:off x="7405231" y="1828799"/>
            <a:ext cx="4146383" cy="777240"/>
          </a:xfrm>
          <a:prstGeom prst="roundRect">
            <a:avLst/>
          </a:prstGeom>
          <a:solidFill>
            <a:srgbClr val="FFFFFF"/>
          </a:solidFill>
          <a:ln w="12700">
            <a:solidFill>
              <a:srgbClr val="3A5BD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1B2540"/>
                </a:solidFill>
                <a:latin typeface="Segoe UI"/>
              </a:rPr>
              <a:t>امتصاص ضوء الشمس</a:t>
            </a:r>
          </a:p>
        </p:txBody>
      </p:sp>
      <p:sp>
        <p:nvSpPr>
          <p:cNvPr id="14" name="Down Arrow 13"/>
          <p:cNvSpPr/>
          <p:nvPr/>
        </p:nvSpPr>
        <p:spPr>
          <a:xfrm>
            <a:off x="9377839" y="2642615"/>
            <a:ext cx="201168" cy="201167"/>
          </a:xfrm>
          <a:prstGeom prst="downArrow">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405231" y="2880359"/>
            <a:ext cx="4146383" cy="777240"/>
          </a:xfrm>
          <a:prstGeom prst="roundRect">
            <a:avLst/>
          </a:prstGeom>
          <a:solidFill>
            <a:srgbClr val="FFFFFF"/>
          </a:solidFill>
          <a:ln w="12700">
            <a:solidFill>
              <a:srgbClr val="3A5BD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1B2540"/>
                </a:solidFill>
                <a:latin typeface="Segoe UI"/>
              </a:rPr>
              <a:t>شطر جزيئات الماء</a:t>
            </a:r>
          </a:p>
        </p:txBody>
      </p:sp>
      <p:sp>
        <p:nvSpPr>
          <p:cNvPr id="16" name="Down Arrow 15"/>
          <p:cNvSpPr/>
          <p:nvPr/>
        </p:nvSpPr>
        <p:spPr>
          <a:xfrm>
            <a:off x="9377839" y="3694175"/>
            <a:ext cx="201168" cy="201167"/>
          </a:xfrm>
          <a:prstGeom prst="downArrow">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405231" y="3931920"/>
            <a:ext cx="4146383" cy="777240"/>
          </a:xfrm>
          <a:prstGeom prst="round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FFFFFF"/>
                </a:solidFill>
                <a:latin typeface="Segoe UI"/>
              </a:rPr>
              <a:t>تكوين ATP و NADPH</a:t>
            </a:r>
          </a:p>
        </p:txBody>
      </p:sp>
      <p:sp>
        <p:nvSpPr>
          <p:cNvPr id="18" name="Rectangle 17"/>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د. منى · test</a:t>
            </a:r>
          </a:p>
        </p:txBody>
      </p:sp>
      <p:sp>
        <p:nvSpPr>
          <p:cNvPr id="20" name="TextBox 19"/>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4 / 14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66928"/>
            <a:ext cx="10545775" cy="868680"/>
          </a:xfrm>
          <a:prstGeom prst="rect">
            <a:avLst/>
          </a:prstGeom>
          <a:noFill/>
        </p:spPr>
        <p:txBody>
          <a:bodyPr wrap="square" anchor="ctr" lIns="0" rIns="0" tIns="0" bIns="0">
            <a:spAutoFit/>
          </a:bodyPr>
          <a:lstStyle/>
          <a:p>
            <a:pPr algn="r" rtl="1"/>
            <a:r>
              <a:rPr sz="3000" b="1">
                <a:solidFill>
                  <a:srgbClr val="1B2540"/>
                </a:solidFill>
                <a:latin typeface="Segoe UI"/>
              </a:rPr>
              <a:t>دورة كالفن: تثبيت الكربون</a:t>
            </a:r>
          </a:p>
        </p:txBody>
      </p:sp>
      <p:sp>
        <p:nvSpPr>
          <p:cNvPr id="5" name="Rectangle 4"/>
          <p:cNvSpPr/>
          <p:nvPr/>
        </p:nvSpPr>
        <p:spPr>
          <a:xfrm>
            <a:off x="6604235" y="200253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74519"/>
            <a:ext cx="5744699" cy="868680"/>
          </a:xfrm>
          <a:prstGeom prst="rect">
            <a:avLst/>
          </a:prstGeom>
          <a:noFill/>
        </p:spPr>
        <p:txBody>
          <a:bodyPr wrap="square" anchor="t" lIns="0" rIns="0" tIns="0" bIns="0">
            <a:spAutoFit/>
          </a:bodyPr>
          <a:lstStyle/>
          <a:p>
            <a:pPr algn="r" rtl="1"/>
            <a:r>
              <a:rPr sz="2400" b="0">
                <a:solidFill>
                  <a:srgbClr val="1B2540"/>
                </a:solidFill>
                <a:latin typeface="Segoe UI"/>
              </a:rPr>
              <a:t>تحدث دورة كالفن في سائل الستروما داخل البلاستيدة.</a:t>
            </a:r>
          </a:p>
        </p:txBody>
      </p:sp>
      <p:sp>
        <p:nvSpPr>
          <p:cNvPr id="7" name="Rectangle 6"/>
          <p:cNvSpPr/>
          <p:nvPr/>
        </p:nvSpPr>
        <p:spPr>
          <a:xfrm>
            <a:off x="6604235" y="287121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743200"/>
            <a:ext cx="5744699" cy="868680"/>
          </a:xfrm>
          <a:prstGeom prst="rect">
            <a:avLst/>
          </a:prstGeom>
          <a:noFill/>
        </p:spPr>
        <p:txBody>
          <a:bodyPr wrap="square" anchor="t" lIns="0" rIns="0" tIns="0" bIns="0">
            <a:spAutoFit/>
          </a:bodyPr>
          <a:lstStyle/>
          <a:p>
            <a:pPr algn="r" rtl="1"/>
            <a:r>
              <a:rPr sz="2400" b="0">
                <a:solidFill>
                  <a:srgbClr val="1B2540"/>
                </a:solidFill>
                <a:latin typeface="Segoe UI"/>
              </a:rPr>
              <a:t>يتم امتصاص ثاني أكسيد الكربون من الغلاف الجوي.</a:t>
            </a:r>
          </a:p>
        </p:txBody>
      </p:sp>
      <p:sp>
        <p:nvSpPr>
          <p:cNvPr id="9" name="Rectangle 8"/>
          <p:cNvSpPr/>
          <p:nvPr/>
        </p:nvSpPr>
        <p:spPr>
          <a:xfrm>
            <a:off x="6604235" y="373989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611879"/>
            <a:ext cx="5744699" cy="868680"/>
          </a:xfrm>
          <a:prstGeom prst="rect">
            <a:avLst/>
          </a:prstGeom>
          <a:noFill/>
        </p:spPr>
        <p:txBody>
          <a:bodyPr wrap="square" anchor="t" lIns="0" rIns="0" tIns="0" bIns="0">
            <a:spAutoFit/>
          </a:bodyPr>
          <a:lstStyle/>
          <a:p>
            <a:pPr algn="r" rtl="1"/>
            <a:r>
              <a:rPr sz="2400" b="0">
                <a:solidFill>
                  <a:srgbClr val="1B2540"/>
                </a:solidFill>
                <a:latin typeface="Segoe UI"/>
              </a:rPr>
              <a:t>تستخدم الطاقة من ATP و NADPH لتثبيت الكربون.</a:t>
            </a:r>
          </a:p>
        </p:txBody>
      </p:sp>
      <p:sp>
        <p:nvSpPr>
          <p:cNvPr id="11" name="Rectangle 10"/>
          <p:cNvSpPr/>
          <p:nvPr/>
        </p:nvSpPr>
        <p:spPr>
          <a:xfrm>
            <a:off x="6604235" y="4608575"/>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4480559"/>
            <a:ext cx="5744699" cy="868680"/>
          </a:xfrm>
          <a:prstGeom prst="rect">
            <a:avLst/>
          </a:prstGeom>
          <a:noFill/>
        </p:spPr>
        <p:txBody>
          <a:bodyPr wrap="square" anchor="t" lIns="0" rIns="0" tIns="0" bIns="0">
            <a:spAutoFit/>
          </a:bodyPr>
          <a:lstStyle/>
          <a:p>
            <a:pPr algn="r" rtl="1"/>
            <a:r>
              <a:rPr sz="2400" b="0">
                <a:solidFill>
                  <a:srgbClr val="1B2540"/>
                </a:solidFill>
                <a:latin typeface="Segoe UI"/>
              </a:rPr>
              <a:t>الناتج النهائي للدورة هو سكر الجلوكوز عالي الطاقة.</a:t>
            </a:r>
          </a:p>
        </p:txBody>
      </p:sp>
      <p:sp>
        <p:nvSpPr>
          <p:cNvPr id="13" name="Rounded Rectangle 12"/>
          <p:cNvSpPr/>
          <p:nvPr/>
        </p:nvSpPr>
        <p:spPr>
          <a:xfrm>
            <a:off x="7405231" y="1828799"/>
            <a:ext cx="4146383" cy="777240"/>
          </a:xfrm>
          <a:prstGeom prst="roundRect">
            <a:avLst/>
          </a:prstGeom>
          <a:solidFill>
            <a:srgbClr val="FFFFFF"/>
          </a:solidFill>
          <a:ln w="12700">
            <a:solidFill>
              <a:srgbClr val="3A5BD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1B2540"/>
                </a:solidFill>
                <a:latin typeface="Segoe UI"/>
              </a:rPr>
              <a:t>دخول ثاني أكسيد الكربون</a:t>
            </a:r>
          </a:p>
        </p:txBody>
      </p:sp>
      <p:sp>
        <p:nvSpPr>
          <p:cNvPr id="14" name="Down Arrow 13"/>
          <p:cNvSpPr/>
          <p:nvPr/>
        </p:nvSpPr>
        <p:spPr>
          <a:xfrm>
            <a:off x="9377839" y="2642615"/>
            <a:ext cx="201168" cy="201167"/>
          </a:xfrm>
          <a:prstGeom prst="downArrow">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405231" y="2880359"/>
            <a:ext cx="4146383" cy="777240"/>
          </a:xfrm>
          <a:prstGeom prst="roundRect">
            <a:avLst/>
          </a:prstGeom>
          <a:solidFill>
            <a:srgbClr val="FFFFFF"/>
          </a:solidFill>
          <a:ln w="12700">
            <a:solidFill>
              <a:srgbClr val="3A5BD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1B2540"/>
                </a:solidFill>
                <a:latin typeface="Segoe UI"/>
              </a:rPr>
              <a:t>تثبيت الكربون بالإنزيمات</a:t>
            </a:r>
          </a:p>
        </p:txBody>
      </p:sp>
      <p:sp>
        <p:nvSpPr>
          <p:cNvPr id="16" name="Down Arrow 15"/>
          <p:cNvSpPr/>
          <p:nvPr/>
        </p:nvSpPr>
        <p:spPr>
          <a:xfrm>
            <a:off x="9377839" y="3694175"/>
            <a:ext cx="201168" cy="201167"/>
          </a:xfrm>
          <a:prstGeom prst="downArrow">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405231" y="3931920"/>
            <a:ext cx="4146383" cy="777240"/>
          </a:xfrm>
          <a:prstGeom prst="round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FFFFFF"/>
                </a:solidFill>
                <a:latin typeface="Segoe UI"/>
              </a:rPr>
              <a:t>إنتاج جزيئات الجلوكوز</a:t>
            </a:r>
          </a:p>
        </p:txBody>
      </p:sp>
      <p:sp>
        <p:nvSpPr>
          <p:cNvPr id="18" name="Rectangle 17"/>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د. منى · test</a:t>
            </a:r>
          </a:p>
        </p:txBody>
      </p:sp>
      <p:sp>
        <p:nvSpPr>
          <p:cNvPr id="20" name="TextBox 19"/>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5 / 14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66928"/>
            <a:ext cx="10545775" cy="868680"/>
          </a:xfrm>
          <a:prstGeom prst="rect">
            <a:avLst/>
          </a:prstGeom>
          <a:noFill/>
        </p:spPr>
        <p:txBody>
          <a:bodyPr wrap="square" anchor="ctr" lIns="0" rIns="0" tIns="0" bIns="0">
            <a:spAutoFit/>
          </a:bodyPr>
          <a:lstStyle/>
          <a:p>
            <a:pPr algn="r" rtl="1"/>
            <a:r>
              <a:rPr sz="3000" b="1">
                <a:solidFill>
                  <a:srgbClr val="1B2540"/>
                </a:solidFill>
                <a:latin typeface="Segoe UI"/>
              </a:rPr>
              <a:t>العوامل المؤثرة على البناء الضوئي</a:t>
            </a:r>
          </a:p>
        </p:txBody>
      </p:sp>
      <p:sp>
        <p:nvSpPr>
          <p:cNvPr id="5" name="Rectangle 4"/>
          <p:cNvSpPr/>
          <p:nvPr/>
        </p:nvSpPr>
        <p:spPr>
          <a:xfrm>
            <a:off x="6604235" y="200253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74519"/>
            <a:ext cx="5744699" cy="868680"/>
          </a:xfrm>
          <a:prstGeom prst="rect">
            <a:avLst/>
          </a:prstGeom>
          <a:noFill/>
        </p:spPr>
        <p:txBody>
          <a:bodyPr wrap="square" anchor="t" lIns="0" rIns="0" tIns="0" bIns="0">
            <a:spAutoFit/>
          </a:bodyPr>
          <a:lstStyle/>
          <a:p>
            <a:pPr algn="r" rtl="1"/>
            <a:r>
              <a:rPr sz="2400" b="0">
                <a:solidFill>
                  <a:srgbClr val="1B2540"/>
                </a:solidFill>
                <a:latin typeface="Segoe UI"/>
              </a:rPr>
              <a:t>شدة الإضاءة تؤثر بشكل مباشر على سرعة التفاعلات الضوئية.</a:t>
            </a:r>
          </a:p>
        </p:txBody>
      </p:sp>
      <p:sp>
        <p:nvSpPr>
          <p:cNvPr id="7" name="Rectangle 6"/>
          <p:cNvSpPr/>
          <p:nvPr/>
        </p:nvSpPr>
        <p:spPr>
          <a:xfrm>
            <a:off x="6604235" y="287121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743200"/>
            <a:ext cx="5744699" cy="868680"/>
          </a:xfrm>
          <a:prstGeom prst="rect">
            <a:avLst/>
          </a:prstGeom>
          <a:noFill/>
        </p:spPr>
        <p:txBody>
          <a:bodyPr wrap="square" anchor="t" lIns="0" rIns="0" tIns="0" bIns="0">
            <a:spAutoFit/>
          </a:bodyPr>
          <a:lstStyle/>
          <a:p>
            <a:pPr algn="r" rtl="1"/>
            <a:r>
              <a:rPr sz="2400" b="0">
                <a:solidFill>
                  <a:srgbClr val="1B2540"/>
                </a:solidFill>
                <a:latin typeface="Segoe UI"/>
              </a:rPr>
              <a:t>تركيز ثاني أكسيد الكربون يحدد سرعة دورة كالفن.</a:t>
            </a:r>
          </a:p>
        </p:txBody>
      </p:sp>
      <p:sp>
        <p:nvSpPr>
          <p:cNvPr id="9" name="Rectangle 8"/>
          <p:cNvSpPr/>
          <p:nvPr/>
        </p:nvSpPr>
        <p:spPr>
          <a:xfrm>
            <a:off x="6604235" y="373989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611879"/>
            <a:ext cx="5744699" cy="868680"/>
          </a:xfrm>
          <a:prstGeom prst="rect">
            <a:avLst/>
          </a:prstGeom>
          <a:noFill/>
        </p:spPr>
        <p:txBody>
          <a:bodyPr wrap="square" anchor="t" lIns="0" rIns="0" tIns="0" bIns="0">
            <a:spAutoFit/>
          </a:bodyPr>
          <a:lstStyle/>
          <a:p>
            <a:pPr algn="r" rtl="1"/>
            <a:r>
              <a:rPr sz="2400" b="0">
                <a:solidFill>
                  <a:srgbClr val="1B2540"/>
                </a:solidFill>
                <a:latin typeface="Segoe UI"/>
              </a:rPr>
              <a:t>درجة الحرارة المثالية ضرورية لعمل الإنزيمات بكفاءة.</a:t>
            </a:r>
          </a:p>
        </p:txBody>
      </p:sp>
      <p:sp>
        <p:nvSpPr>
          <p:cNvPr id="11" name="Rectangle 10"/>
          <p:cNvSpPr/>
          <p:nvPr/>
        </p:nvSpPr>
        <p:spPr>
          <a:xfrm>
            <a:off x="6604235" y="4608575"/>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4480559"/>
            <a:ext cx="5744699" cy="868680"/>
          </a:xfrm>
          <a:prstGeom prst="rect">
            <a:avLst/>
          </a:prstGeom>
          <a:noFill/>
        </p:spPr>
        <p:txBody>
          <a:bodyPr wrap="square" anchor="t" lIns="0" rIns="0" tIns="0" bIns="0">
            <a:spAutoFit/>
          </a:bodyPr>
          <a:lstStyle/>
          <a:p>
            <a:pPr algn="r" rtl="1"/>
            <a:r>
              <a:rPr sz="2400" b="0">
                <a:solidFill>
                  <a:srgbClr val="1B2540"/>
                </a:solidFill>
                <a:latin typeface="Segoe UI"/>
              </a:rPr>
              <a:t>نقص الماء يؤدي لإغلاق الثغور وتوقف تبادل الغازات.</a:t>
            </a:r>
          </a:p>
        </p:txBody>
      </p:sp>
      <p:sp>
        <p:nvSpPr>
          <p:cNvPr id="13" name="Rounded Rectangle 12"/>
          <p:cNvSpPr/>
          <p:nvPr/>
        </p:nvSpPr>
        <p:spPr>
          <a:xfrm>
            <a:off x="7405231" y="1828799"/>
            <a:ext cx="4146383" cy="777240"/>
          </a:xfrm>
          <a:prstGeom prst="roundRect">
            <a:avLst/>
          </a:prstGeom>
          <a:solidFill>
            <a:srgbClr val="FFFFFF"/>
          </a:solidFill>
          <a:ln w="12700">
            <a:solidFill>
              <a:srgbClr val="3A5BD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1B2540"/>
                </a:solidFill>
                <a:latin typeface="Segoe UI"/>
              </a:rPr>
              <a:t>تغير العوامل البيئية</a:t>
            </a:r>
          </a:p>
        </p:txBody>
      </p:sp>
      <p:sp>
        <p:nvSpPr>
          <p:cNvPr id="14" name="Down Arrow 13"/>
          <p:cNvSpPr/>
          <p:nvPr/>
        </p:nvSpPr>
        <p:spPr>
          <a:xfrm>
            <a:off x="9377839" y="2642615"/>
            <a:ext cx="201168" cy="201167"/>
          </a:xfrm>
          <a:prstGeom prst="downArrow">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405231" y="2880359"/>
            <a:ext cx="4146383" cy="777240"/>
          </a:xfrm>
          <a:prstGeom prst="roundRect">
            <a:avLst/>
          </a:prstGeom>
          <a:solidFill>
            <a:srgbClr val="FFFFFF"/>
          </a:solidFill>
          <a:ln w="12700">
            <a:solidFill>
              <a:srgbClr val="3A5BD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1B2540"/>
                </a:solidFill>
                <a:latin typeface="Segoe UI"/>
              </a:rPr>
              <a:t>تأثير على سرعة التفاعل</a:t>
            </a:r>
          </a:p>
        </p:txBody>
      </p:sp>
      <p:sp>
        <p:nvSpPr>
          <p:cNvPr id="16" name="Down Arrow 15"/>
          <p:cNvSpPr/>
          <p:nvPr/>
        </p:nvSpPr>
        <p:spPr>
          <a:xfrm>
            <a:off x="9377839" y="3694175"/>
            <a:ext cx="201168" cy="201167"/>
          </a:xfrm>
          <a:prstGeom prst="downArrow">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405231" y="3931920"/>
            <a:ext cx="4146383" cy="777240"/>
          </a:xfrm>
          <a:prstGeom prst="round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FFFFFF"/>
                </a:solidFill>
                <a:latin typeface="Segoe UI"/>
              </a:rPr>
              <a:t>تغير معدل إنتاج الجلوكوز</a:t>
            </a:r>
          </a:p>
        </p:txBody>
      </p:sp>
      <p:sp>
        <p:nvSpPr>
          <p:cNvPr id="18" name="Rectangle 17"/>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د. منى · test</a:t>
            </a:r>
          </a:p>
        </p:txBody>
      </p:sp>
      <p:sp>
        <p:nvSpPr>
          <p:cNvPr id="20" name="TextBox 19"/>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6 / 14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66928"/>
            <a:ext cx="10545775" cy="868680"/>
          </a:xfrm>
          <a:prstGeom prst="rect">
            <a:avLst/>
          </a:prstGeom>
          <a:noFill/>
        </p:spPr>
        <p:txBody>
          <a:bodyPr wrap="square" anchor="ctr" lIns="0" rIns="0" tIns="0" bIns="0">
            <a:spAutoFit/>
          </a:bodyPr>
          <a:lstStyle/>
          <a:p>
            <a:pPr algn="r" rtl="1"/>
            <a:r>
              <a:rPr sz="3000" b="1">
                <a:solidFill>
                  <a:srgbClr val="1B2540"/>
                </a:solidFill>
                <a:latin typeface="Segoe UI"/>
              </a:rPr>
              <a:t>نشاط: تحليل العوامل المحددة</a:t>
            </a:r>
          </a:p>
        </p:txBody>
      </p:sp>
      <p:sp>
        <p:nvSpPr>
          <p:cNvPr id="5" name="Rectangle 4"/>
          <p:cNvSpPr/>
          <p:nvPr/>
        </p:nvSpPr>
        <p:spPr>
          <a:xfrm>
            <a:off x="6604235" y="200253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74519"/>
            <a:ext cx="5744699" cy="868680"/>
          </a:xfrm>
          <a:prstGeom prst="rect">
            <a:avLst/>
          </a:prstGeom>
          <a:noFill/>
        </p:spPr>
        <p:txBody>
          <a:bodyPr wrap="square" anchor="t" lIns="0" rIns="0" tIns="0" bIns="0">
            <a:spAutoFit/>
          </a:bodyPr>
          <a:lstStyle/>
          <a:p>
            <a:pPr algn="r" rtl="1"/>
            <a:r>
              <a:rPr sz="2400" b="0">
                <a:solidFill>
                  <a:srgbClr val="1B2540"/>
                </a:solidFill>
                <a:latin typeface="Segoe UI"/>
              </a:rPr>
              <a:t>نحلل البيانات لقياس معدل إنتاج الأكسجين تحت ظروف مختلفة.</a:t>
            </a:r>
          </a:p>
        </p:txBody>
      </p:sp>
      <p:sp>
        <p:nvSpPr>
          <p:cNvPr id="7" name="Rectangle 6"/>
          <p:cNvSpPr/>
          <p:nvPr/>
        </p:nvSpPr>
        <p:spPr>
          <a:xfrm>
            <a:off x="6604235" y="287121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743200"/>
            <a:ext cx="5744699" cy="868680"/>
          </a:xfrm>
          <a:prstGeom prst="rect">
            <a:avLst/>
          </a:prstGeom>
          <a:noFill/>
        </p:spPr>
        <p:txBody>
          <a:bodyPr wrap="square" anchor="t" lIns="0" rIns="0" tIns="0" bIns="0">
            <a:spAutoFit/>
          </a:bodyPr>
          <a:lstStyle/>
          <a:p>
            <a:pPr algn="r" rtl="1"/>
            <a:r>
              <a:rPr sz="2400" b="0">
                <a:solidFill>
                  <a:srgbClr val="1B2540"/>
                </a:solidFill>
                <a:latin typeface="Segoe UI"/>
              </a:rPr>
              <a:t>نغير شدة الضوء ونراقب استجابة النبات في التجربة.</a:t>
            </a:r>
          </a:p>
        </p:txBody>
      </p:sp>
      <p:sp>
        <p:nvSpPr>
          <p:cNvPr id="9" name="Rectangle 8"/>
          <p:cNvSpPr/>
          <p:nvPr/>
        </p:nvSpPr>
        <p:spPr>
          <a:xfrm>
            <a:off x="6604235" y="373989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611879"/>
            <a:ext cx="5744699" cy="868680"/>
          </a:xfrm>
          <a:prstGeom prst="rect">
            <a:avLst/>
          </a:prstGeom>
          <a:noFill/>
        </p:spPr>
        <p:txBody>
          <a:bodyPr wrap="square" anchor="t" lIns="0" rIns="0" tIns="0" bIns="0">
            <a:spAutoFit/>
          </a:bodyPr>
          <a:lstStyle/>
          <a:p>
            <a:pPr algn="r" rtl="1"/>
            <a:r>
              <a:rPr sz="2400" b="0">
                <a:solidFill>
                  <a:srgbClr val="1B2540"/>
                </a:solidFill>
                <a:latin typeface="Segoe UI"/>
              </a:rPr>
              <a:t>نحدد العامل الذي يحد من سرعة العملية في كل حالة.</a:t>
            </a:r>
          </a:p>
        </p:txBody>
      </p:sp>
      <p:sp>
        <p:nvSpPr>
          <p:cNvPr id="11" name="Rectangle 10"/>
          <p:cNvSpPr/>
          <p:nvPr/>
        </p:nvSpPr>
        <p:spPr>
          <a:xfrm>
            <a:off x="6604235" y="4608575"/>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4480559"/>
            <a:ext cx="5744699" cy="868680"/>
          </a:xfrm>
          <a:prstGeom prst="rect">
            <a:avLst/>
          </a:prstGeom>
          <a:noFill/>
        </p:spPr>
        <p:txBody>
          <a:bodyPr wrap="square" anchor="t" lIns="0" rIns="0" tIns="0" bIns="0">
            <a:spAutoFit/>
          </a:bodyPr>
          <a:lstStyle/>
          <a:p>
            <a:pPr algn="r" rtl="1"/>
            <a:r>
              <a:rPr sz="2400" b="0">
                <a:solidFill>
                  <a:srgbClr val="1B2540"/>
                </a:solidFill>
                <a:latin typeface="Segoe UI"/>
              </a:rPr>
              <a:t>نربط النتائج العملية بالمفاهيم النظرية التي تعلمناها.</a:t>
            </a:r>
          </a:p>
        </p:txBody>
      </p:sp>
      <p:sp>
        <p:nvSpPr>
          <p:cNvPr id="13" name="Rounded Rectangle 12"/>
          <p:cNvSpPr/>
          <p:nvPr/>
        </p:nvSpPr>
        <p:spPr>
          <a:xfrm>
            <a:off x="7405231" y="1828799"/>
            <a:ext cx="4146383" cy="777240"/>
          </a:xfrm>
          <a:prstGeom prst="roundRect">
            <a:avLst/>
          </a:prstGeom>
          <a:solidFill>
            <a:srgbClr val="FFFFFF"/>
          </a:solidFill>
          <a:ln w="12700">
            <a:solidFill>
              <a:srgbClr val="3A5BD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1B2540"/>
                </a:solidFill>
                <a:latin typeface="Segoe UI"/>
              </a:rPr>
              <a:t>تغيير متغير واحد</a:t>
            </a:r>
          </a:p>
        </p:txBody>
      </p:sp>
      <p:sp>
        <p:nvSpPr>
          <p:cNvPr id="14" name="Down Arrow 13"/>
          <p:cNvSpPr/>
          <p:nvPr/>
        </p:nvSpPr>
        <p:spPr>
          <a:xfrm>
            <a:off x="9377839" y="2642615"/>
            <a:ext cx="201168" cy="201167"/>
          </a:xfrm>
          <a:prstGeom prst="downArrow">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405231" y="2880359"/>
            <a:ext cx="4146383" cy="777240"/>
          </a:xfrm>
          <a:prstGeom prst="roundRect">
            <a:avLst/>
          </a:prstGeom>
          <a:solidFill>
            <a:srgbClr val="FFFFFF"/>
          </a:solidFill>
          <a:ln w="12700">
            <a:solidFill>
              <a:srgbClr val="3A5BD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1B2540"/>
                </a:solidFill>
                <a:latin typeface="Segoe UI"/>
              </a:rPr>
              <a:t>قياس معدل التفاعل</a:t>
            </a:r>
          </a:p>
        </p:txBody>
      </p:sp>
      <p:sp>
        <p:nvSpPr>
          <p:cNvPr id="16" name="Down Arrow 15"/>
          <p:cNvSpPr/>
          <p:nvPr/>
        </p:nvSpPr>
        <p:spPr>
          <a:xfrm>
            <a:off x="9377839" y="3694175"/>
            <a:ext cx="201168" cy="201167"/>
          </a:xfrm>
          <a:prstGeom prst="downArrow">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405231" y="3931920"/>
            <a:ext cx="4146383" cy="777240"/>
          </a:xfrm>
          <a:prstGeom prst="round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FFFFFF"/>
                </a:solidFill>
                <a:latin typeface="Segoe UI"/>
              </a:rPr>
              <a:t>تحديد العامل المحدود</a:t>
            </a:r>
          </a:p>
        </p:txBody>
      </p:sp>
      <p:sp>
        <p:nvSpPr>
          <p:cNvPr id="18" name="Rectangle 17"/>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د. منى · test</a:t>
            </a:r>
          </a:p>
        </p:txBody>
      </p:sp>
      <p:sp>
        <p:nvSpPr>
          <p:cNvPr id="20" name="TextBox 19"/>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7 / 14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02920"/>
            <a:ext cx="10545775" cy="274320"/>
          </a:xfrm>
          <a:prstGeom prst="rect">
            <a:avLst/>
          </a:prstGeom>
          <a:noFill/>
        </p:spPr>
        <p:txBody>
          <a:bodyPr wrap="square" anchor="t" lIns="0" rIns="0" tIns="0" bIns="0">
            <a:spAutoFit/>
          </a:bodyPr>
          <a:lstStyle/>
          <a:p>
            <a:pPr algn="l"/>
            <a:r>
              <a:rPr sz="1200" b="1">
                <a:solidFill>
                  <a:srgbClr val="3A5BD9"/>
                </a:solidFill>
                <a:latin typeface="Segoe UI"/>
              </a:rPr>
              <a:t>CHECK YOUR UNDERSTANDING 1</a:t>
            </a:r>
          </a:p>
        </p:txBody>
      </p:sp>
      <p:sp>
        <p:nvSpPr>
          <p:cNvPr id="5" name="TextBox 4"/>
          <p:cNvSpPr txBox="1"/>
          <p:nvPr/>
        </p:nvSpPr>
        <p:spPr>
          <a:xfrm>
            <a:off x="932688" y="777240"/>
            <a:ext cx="10545775" cy="868680"/>
          </a:xfrm>
          <a:prstGeom prst="rect">
            <a:avLst/>
          </a:prstGeom>
          <a:noFill/>
        </p:spPr>
        <p:txBody>
          <a:bodyPr wrap="square" anchor="t" lIns="0" rIns="0" tIns="0" bIns="0">
            <a:spAutoFit/>
          </a:bodyPr>
          <a:lstStyle/>
          <a:p>
            <a:pPr algn="r" rtl="1"/>
            <a:r>
              <a:rPr sz="2400" b="1">
                <a:solidFill>
                  <a:srgbClr val="1B2540"/>
                </a:solidFill>
                <a:latin typeface="Segoe UI"/>
              </a:rPr>
              <a:t>ما هو الدور الأساسي للبلاستيدات الخضراء في عملية البناء الضوئي؟</a:t>
            </a:r>
          </a:p>
        </p:txBody>
      </p:sp>
      <p:sp>
        <p:nvSpPr>
          <p:cNvPr id="6" name="Rounded Rectangle 5"/>
          <p:cNvSpPr/>
          <p:nvPr/>
        </p:nvSpPr>
        <p:spPr>
          <a:xfrm>
            <a:off x="640080" y="205740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A.  تفكيك جزيئات الجلوكوز لإنتاج ATP</a:t>
            </a:r>
          </a:p>
        </p:txBody>
      </p:sp>
      <p:sp>
        <p:nvSpPr>
          <p:cNvPr id="7" name="Rounded Rectangle 6"/>
          <p:cNvSpPr/>
          <p:nvPr/>
        </p:nvSpPr>
        <p:spPr>
          <a:xfrm>
            <a:off x="6233007" y="205740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B.  امتصاص الطاقة الضوئية وتخزينها كيميائياً</a:t>
            </a:r>
          </a:p>
        </p:txBody>
      </p:sp>
      <p:sp>
        <p:nvSpPr>
          <p:cNvPr id="8" name="Rounded Rectangle 7"/>
          <p:cNvSpPr/>
          <p:nvPr/>
        </p:nvSpPr>
        <p:spPr>
          <a:xfrm>
            <a:off x="640080" y="338328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C.  تخزين البروتينات اللازمة لنمو الخلية</a:t>
            </a:r>
          </a:p>
        </p:txBody>
      </p:sp>
      <p:sp>
        <p:nvSpPr>
          <p:cNvPr id="9" name="Rounded Rectangle 8"/>
          <p:cNvSpPr/>
          <p:nvPr/>
        </p:nvSpPr>
        <p:spPr>
          <a:xfrm>
            <a:off x="6233007" y="338328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D.  تنظيم تبادل الغازات عبر الثغور</a:t>
            </a:r>
          </a:p>
        </p:txBody>
      </p:sp>
      <p:sp>
        <p:nvSpPr>
          <p:cNvPr id="10" name="Rectangle 9"/>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د. منى · test</a:t>
            </a:r>
          </a:p>
        </p:txBody>
      </p:sp>
      <p:sp>
        <p:nvSpPr>
          <p:cNvPr id="12" name="TextBox 11"/>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8 / 14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02920"/>
            <a:ext cx="10545775" cy="274320"/>
          </a:xfrm>
          <a:prstGeom prst="rect">
            <a:avLst/>
          </a:prstGeom>
          <a:noFill/>
        </p:spPr>
        <p:txBody>
          <a:bodyPr wrap="square" anchor="t" lIns="0" rIns="0" tIns="0" bIns="0">
            <a:spAutoFit/>
          </a:bodyPr>
          <a:lstStyle/>
          <a:p>
            <a:pPr algn="l"/>
            <a:r>
              <a:rPr sz="1200" b="1">
                <a:solidFill>
                  <a:srgbClr val="3A5BD9"/>
                </a:solidFill>
                <a:latin typeface="Segoe UI"/>
              </a:rPr>
              <a:t>ANSWER 1</a:t>
            </a:r>
          </a:p>
        </p:txBody>
      </p:sp>
      <p:sp>
        <p:nvSpPr>
          <p:cNvPr id="5" name="TextBox 4"/>
          <p:cNvSpPr txBox="1"/>
          <p:nvPr/>
        </p:nvSpPr>
        <p:spPr>
          <a:xfrm>
            <a:off x="932688" y="777240"/>
            <a:ext cx="10545775" cy="868680"/>
          </a:xfrm>
          <a:prstGeom prst="rect">
            <a:avLst/>
          </a:prstGeom>
          <a:noFill/>
        </p:spPr>
        <p:txBody>
          <a:bodyPr wrap="square" anchor="t" lIns="0" rIns="0" tIns="0" bIns="0">
            <a:spAutoFit/>
          </a:bodyPr>
          <a:lstStyle/>
          <a:p>
            <a:pPr algn="r" rtl="1"/>
            <a:r>
              <a:rPr sz="2400" b="1">
                <a:solidFill>
                  <a:srgbClr val="1B2540"/>
                </a:solidFill>
                <a:latin typeface="Segoe UI"/>
              </a:rPr>
              <a:t>ما هو الدور الأساسي للبلاستيدات الخضراء في عملية البناء الضوئي؟</a:t>
            </a:r>
          </a:p>
        </p:txBody>
      </p:sp>
      <p:sp>
        <p:nvSpPr>
          <p:cNvPr id="6" name="Rounded Rectangle 5"/>
          <p:cNvSpPr/>
          <p:nvPr/>
        </p:nvSpPr>
        <p:spPr>
          <a:xfrm>
            <a:off x="640080" y="205740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A.  تفكيك جزيئات الجلوكوز لإنتاج ATP</a:t>
            </a:r>
          </a:p>
        </p:txBody>
      </p:sp>
      <p:sp>
        <p:nvSpPr>
          <p:cNvPr id="7" name="Rounded Rectangle 6"/>
          <p:cNvSpPr/>
          <p:nvPr/>
        </p:nvSpPr>
        <p:spPr>
          <a:xfrm>
            <a:off x="6233007" y="2057400"/>
            <a:ext cx="5318607" cy="1051560"/>
          </a:xfrm>
          <a:prstGeom prst="roundRect">
            <a:avLst>
              <a:gd name="adj" fmla="val 12000"/>
            </a:avLst>
          </a:prstGeom>
          <a:solidFill>
            <a:srgbClr val="DDF3E7"/>
          </a:solidFill>
          <a:ln w="12700">
            <a:solidFill>
              <a:srgbClr val="1F7A4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1">
                <a:solidFill>
                  <a:srgbClr val="1F7A4D"/>
                </a:solidFill>
                <a:latin typeface="Segoe UI"/>
              </a:rPr>
              <a:t>B.  امتصاص الطاقة الضوئية وتخزينها كيميائياً</a:t>
            </a:r>
          </a:p>
        </p:txBody>
      </p:sp>
      <p:sp>
        <p:nvSpPr>
          <p:cNvPr id="8" name="Rounded Rectangle 7"/>
          <p:cNvSpPr/>
          <p:nvPr/>
        </p:nvSpPr>
        <p:spPr>
          <a:xfrm>
            <a:off x="640080" y="338328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C.  تخزين البروتينات اللازمة لنمو الخلية</a:t>
            </a:r>
          </a:p>
        </p:txBody>
      </p:sp>
      <p:sp>
        <p:nvSpPr>
          <p:cNvPr id="9" name="Rounded Rectangle 8"/>
          <p:cNvSpPr/>
          <p:nvPr/>
        </p:nvSpPr>
        <p:spPr>
          <a:xfrm>
            <a:off x="6233007" y="338328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D.  تنظيم تبادل الغازات عبر الثغور</a:t>
            </a:r>
          </a:p>
        </p:txBody>
      </p:sp>
      <p:sp>
        <p:nvSpPr>
          <p:cNvPr id="10" name="TextBox 9"/>
          <p:cNvSpPr txBox="1"/>
          <p:nvPr/>
        </p:nvSpPr>
        <p:spPr>
          <a:xfrm>
            <a:off x="640080" y="4892040"/>
            <a:ext cx="10911535" cy="822960"/>
          </a:xfrm>
          <a:prstGeom prst="rect">
            <a:avLst/>
          </a:prstGeom>
          <a:noFill/>
        </p:spPr>
        <p:txBody>
          <a:bodyPr wrap="square" anchor="t" lIns="0" rIns="0" tIns="0" bIns="0">
            <a:spAutoFit/>
          </a:bodyPr>
          <a:lstStyle/>
          <a:p>
            <a:pPr algn="r" rtl="1"/>
            <a:r>
              <a:rPr sz="1600" b="0">
                <a:solidFill>
                  <a:srgbClr val="4A5572"/>
                </a:solidFill>
                <a:latin typeface="Segoe UI"/>
              </a:rPr>
              <a:t>تحتوي البلاستيدات الخضراء على صبغة الكلوروفيل التي تمتص الضوء وتحوله إلى طاقة كيميائية.</a:t>
            </a:r>
          </a:p>
        </p:txBody>
      </p:sp>
      <p:sp>
        <p:nvSpPr>
          <p:cNvPr id="11" name="Rectangle 10"/>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د. منى · test</a:t>
            </a:r>
          </a:p>
        </p:txBody>
      </p:sp>
      <p:sp>
        <p:nvSpPr>
          <p:cNvPr id="13" name="TextBox 12"/>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9 / 14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02920"/>
            <a:ext cx="10545775" cy="274320"/>
          </a:xfrm>
          <a:prstGeom prst="rect">
            <a:avLst/>
          </a:prstGeom>
          <a:noFill/>
        </p:spPr>
        <p:txBody>
          <a:bodyPr wrap="square" anchor="t" lIns="0" rIns="0" tIns="0" bIns="0">
            <a:spAutoFit/>
          </a:bodyPr>
          <a:lstStyle/>
          <a:p>
            <a:pPr algn="l"/>
            <a:r>
              <a:rPr sz="1200" b="1">
                <a:solidFill>
                  <a:srgbClr val="3A5BD9"/>
                </a:solidFill>
                <a:latin typeface="Segoe UI"/>
              </a:rPr>
              <a:t>CHECK YOUR UNDERSTANDING 2</a:t>
            </a:r>
          </a:p>
        </p:txBody>
      </p:sp>
      <p:sp>
        <p:nvSpPr>
          <p:cNvPr id="5" name="TextBox 4"/>
          <p:cNvSpPr txBox="1"/>
          <p:nvPr/>
        </p:nvSpPr>
        <p:spPr>
          <a:xfrm>
            <a:off x="932688" y="777240"/>
            <a:ext cx="10545775" cy="868680"/>
          </a:xfrm>
          <a:prstGeom prst="rect">
            <a:avLst/>
          </a:prstGeom>
          <a:noFill/>
        </p:spPr>
        <p:txBody>
          <a:bodyPr wrap="square" anchor="t" lIns="0" rIns="0" tIns="0" bIns="0">
            <a:spAutoFit/>
          </a:bodyPr>
          <a:lstStyle/>
          <a:p>
            <a:pPr algn="r" rtl="1"/>
            <a:r>
              <a:rPr sz="2400" b="1">
                <a:solidFill>
                  <a:srgbClr val="1B2540"/>
                </a:solidFill>
                <a:latin typeface="Segoe UI"/>
              </a:rPr>
              <a:t>ما هو الناتج النهائي المباشر للتفاعلات الضوئية في عملية البناء الضوئي؟</a:t>
            </a:r>
          </a:p>
        </p:txBody>
      </p:sp>
      <p:sp>
        <p:nvSpPr>
          <p:cNvPr id="6" name="Rounded Rectangle 5"/>
          <p:cNvSpPr/>
          <p:nvPr/>
        </p:nvSpPr>
        <p:spPr>
          <a:xfrm>
            <a:off x="640080" y="205740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A.  جزيئات الجلوكوز والنشا</a:t>
            </a:r>
          </a:p>
        </p:txBody>
      </p:sp>
      <p:sp>
        <p:nvSpPr>
          <p:cNvPr id="7" name="Rounded Rectangle 6"/>
          <p:cNvSpPr/>
          <p:nvPr/>
        </p:nvSpPr>
        <p:spPr>
          <a:xfrm>
            <a:off x="6233007" y="205740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B.  غاز ثاني أكسيد الكربون</a:t>
            </a:r>
          </a:p>
        </p:txBody>
      </p:sp>
      <p:sp>
        <p:nvSpPr>
          <p:cNvPr id="8" name="Rounded Rectangle 7"/>
          <p:cNvSpPr/>
          <p:nvPr/>
        </p:nvSpPr>
        <p:spPr>
          <a:xfrm>
            <a:off x="640080" y="338328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C.  جزيئات ATP و NADPH</a:t>
            </a:r>
          </a:p>
        </p:txBody>
      </p:sp>
      <p:sp>
        <p:nvSpPr>
          <p:cNvPr id="9" name="Rounded Rectangle 8"/>
          <p:cNvSpPr/>
          <p:nvPr/>
        </p:nvSpPr>
        <p:spPr>
          <a:xfrm>
            <a:off x="6233007" y="338328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D.  غاز النيتروجين الجوي</a:t>
            </a:r>
          </a:p>
        </p:txBody>
      </p:sp>
      <p:sp>
        <p:nvSpPr>
          <p:cNvPr id="10" name="Rectangle 9"/>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د. منى · test</a:t>
            </a:r>
          </a:p>
        </p:txBody>
      </p:sp>
      <p:sp>
        <p:nvSpPr>
          <p:cNvPr id="12" name="TextBox 11"/>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10 / 14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02920"/>
            <a:ext cx="10545775" cy="274320"/>
          </a:xfrm>
          <a:prstGeom prst="rect">
            <a:avLst/>
          </a:prstGeom>
          <a:noFill/>
        </p:spPr>
        <p:txBody>
          <a:bodyPr wrap="square" anchor="t" lIns="0" rIns="0" tIns="0" bIns="0">
            <a:spAutoFit/>
          </a:bodyPr>
          <a:lstStyle/>
          <a:p>
            <a:pPr algn="l"/>
            <a:r>
              <a:rPr sz="1200" b="1">
                <a:solidFill>
                  <a:srgbClr val="3A5BD9"/>
                </a:solidFill>
                <a:latin typeface="Segoe UI"/>
              </a:rPr>
              <a:t>ANSWER 2</a:t>
            </a:r>
          </a:p>
        </p:txBody>
      </p:sp>
      <p:sp>
        <p:nvSpPr>
          <p:cNvPr id="5" name="TextBox 4"/>
          <p:cNvSpPr txBox="1"/>
          <p:nvPr/>
        </p:nvSpPr>
        <p:spPr>
          <a:xfrm>
            <a:off x="932688" y="777240"/>
            <a:ext cx="10545775" cy="868680"/>
          </a:xfrm>
          <a:prstGeom prst="rect">
            <a:avLst/>
          </a:prstGeom>
          <a:noFill/>
        </p:spPr>
        <p:txBody>
          <a:bodyPr wrap="square" anchor="t" lIns="0" rIns="0" tIns="0" bIns="0">
            <a:spAutoFit/>
          </a:bodyPr>
          <a:lstStyle/>
          <a:p>
            <a:pPr algn="r" rtl="1"/>
            <a:r>
              <a:rPr sz="2400" b="1">
                <a:solidFill>
                  <a:srgbClr val="1B2540"/>
                </a:solidFill>
                <a:latin typeface="Segoe UI"/>
              </a:rPr>
              <a:t>ما هو الناتج النهائي المباشر للتفاعلات الضوئية في عملية البناء الضوئي؟</a:t>
            </a:r>
          </a:p>
        </p:txBody>
      </p:sp>
      <p:sp>
        <p:nvSpPr>
          <p:cNvPr id="6" name="Rounded Rectangle 5"/>
          <p:cNvSpPr/>
          <p:nvPr/>
        </p:nvSpPr>
        <p:spPr>
          <a:xfrm>
            <a:off x="640080" y="205740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A.  جزيئات الجلوكوز والنشا</a:t>
            </a:r>
          </a:p>
        </p:txBody>
      </p:sp>
      <p:sp>
        <p:nvSpPr>
          <p:cNvPr id="7" name="Rounded Rectangle 6"/>
          <p:cNvSpPr/>
          <p:nvPr/>
        </p:nvSpPr>
        <p:spPr>
          <a:xfrm>
            <a:off x="6233007" y="205740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B.  غاز ثاني أكسيد الكربون</a:t>
            </a:r>
          </a:p>
        </p:txBody>
      </p:sp>
      <p:sp>
        <p:nvSpPr>
          <p:cNvPr id="8" name="Rounded Rectangle 7"/>
          <p:cNvSpPr/>
          <p:nvPr/>
        </p:nvSpPr>
        <p:spPr>
          <a:xfrm>
            <a:off x="640080" y="3383280"/>
            <a:ext cx="5318607" cy="1051560"/>
          </a:xfrm>
          <a:prstGeom prst="roundRect">
            <a:avLst>
              <a:gd name="adj" fmla="val 12000"/>
            </a:avLst>
          </a:prstGeom>
          <a:solidFill>
            <a:srgbClr val="DDF3E7"/>
          </a:solidFill>
          <a:ln w="12700">
            <a:solidFill>
              <a:srgbClr val="1F7A4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1">
                <a:solidFill>
                  <a:srgbClr val="1F7A4D"/>
                </a:solidFill>
                <a:latin typeface="Segoe UI"/>
              </a:rPr>
              <a:t>C.  جزيئات ATP و NADPH</a:t>
            </a:r>
          </a:p>
        </p:txBody>
      </p:sp>
      <p:sp>
        <p:nvSpPr>
          <p:cNvPr id="9" name="Rounded Rectangle 8"/>
          <p:cNvSpPr/>
          <p:nvPr/>
        </p:nvSpPr>
        <p:spPr>
          <a:xfrm>
            <a:off x="6233007" y="338328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D.  غاز النيتروجين الجوي</a:t>
            </a:r>
          </a:p>
        </p:txBody>
      </p:sp>
      <p:sp>
        <p:nvSpPr>
          <p:cNvPr id="10" name="TextBox 9"/>
          <p:cNvSpPr txBox="1"/>
          <p:nvPr/>
        </p:nvSpPr>
        <p:spPr>
          <a:xfrm>
            <a:off x="640080" y="4892040"/>
            <a:ext cx="10911535" cy="822960"/>
          </a:xfrm>
          <a:prstGeom prst="rect">
            <a:avLst/>
          </a:prstGeom>
          <a:noFill/>
        </p:spPr>
        <p:txBody>
          <a:bodyPr wrap="square" anchor="t" lIns="0" rIns="0" tIns="0" bIns="0">
            <a:spAutoFit/>
          </a:bodyPr>
          <a:lstStyle/>
          <a:p>
            <a:pPr algn="r" rtl="1"/>
            <a:r>
              <a:rPr sz="1600" b="0">
                <a:solidFill>
                  <a:srgbClr val="4A5572"/>
                </a:solidFill>
                <a:latin typeface="Segoe UI"/>
              </a:rPr>
              <a:t>تنتج التفاعلات الضوئية جزيئات حاملة للطاقة مثل ATP و NADPH لاستخدامها في دورة كالفن.</a:t>
            </a:r>
          </a:p>
        </p:txBody>
      </p:sp>
      <p:sp>
        <p:nvSpPr>
          <p:cNvPr id="11" name="Rectangle 10"/>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د. منى · test</a:t>
            </a:r>
          </a:p>
        </p:txBody>
      </p:sp>
      <p:sp>
        <p:nvSpPr>
          <p:cNvPr id="13" name="TextBox 12"/>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11 / 14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02920"/>
            <a:ext cx="10545775" cy="274320"/>
          </a:xfrm>
          <a:prstGeom prst="rect">
            <a:avLst/>
          </a:prstGeom>
          <a:noFill/>
        </p:spPr>
        <p:txBody>
          <a:bodyPr wrap="square" anchor="t" lIns="0" rIns="0" tIns="0" bIns="0">
            <a:spAutoFit/>
          </a:bodyPr>
          <a:lstStyle/>
          <a:p>
            <a:pPr algn="l"/>
            <a:r>
              <a:rPr sz="1200" b="1">
                <a:solidFill>
                  <a:srgbClr val="3A5BD9"/>
                </a:solidFill>
                <a:latin typeface="Segoe UI"/>
              </a:rPr>
              <a:t>CHECK YOUR UNDERSTANDING 3</a:t>
            </a:r>
          </a:p>
        </p:txBody>
      </p:sp>
      <p:sp>
        <p:nvSpPr>
          <p:cNvPr id="5" name="TextBox 4"/>
          <p:cNvSpPr txBox="1"/>
          <p:nvPr/>
        </p:nvSpPr>
        <p:spPr>
          <a:xfrm>
            <a:off x="932688" y="777240"/>
            <a:ext cx="10545775" cy="868680"/>
          </a:xfrm>
          <a:prstGeom prst="rect">
            <a:avLst/>
          </a:prstGeom>
          <a:noFill/>
        </p:spPr>
        <p:txBody>
          <a:bodyPr wrap="square" anchor="t" lIns="0" rIns="0" tIns="0" bIns="0">
            <a:spAutoFit/>
          </a:bodyPr>
          <a:lstStyle/>
          <a:p>
            <a:pPr algn="r" rtl="1"/>
            <a:r>
              <a:rPr sz="3000" b="1">
                <a:solidFill>
                  <a:srgbClr val="1B2540"/>
                </a:solidFill>
                <a:latin typeface="Segoe UI"/>
              </a:rPr>
              <a:t>أين تحدث دورة كالفن داخل البلاستيدة الخضراء؟</a:t>
            </a:r>
          </a:p>
        </p:txBody>
      </p:sp>
      <p:sp>
        <p:nvSpPr>
          <p:cNvPr id="6" name="Rounded Rectangle 5"/>
          <p:cNvSpPr/>
          <p:nvPr/>
        </p:nvSpPr>
        <p:spPr>
          <a:xfrm>
            <a:off x="640080" y="205740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A.  في غشاء الثايلاكويد</a:t>
            </a:r>
          </a:p>
        </p:txBody>
      </p:sp>
      <p:sp>
        <p:nvSpPr>
          <p:cNvPr id="7" name="Rounded Rectangle 6"/>
          <p:cNvSpPr/>
          <p:nvPr/>
        </p:nvSpPr>
        <p:spPr>
          <a:xfrm>
            <a:off x="6233007" y="205740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B.  في سائل الستروما</a:t>
            </a:r>
          </a:p>
        </p:txBody>
      </p:sp>
      <p:sp>
        <p:nvSpPr>
          <p:cNvPr id="8" name="Rounded Rectangle 7"/>
          <p:cNvSpPr/>
          <p:nvPr/>
        </p:nvSpPr>
        <p:spPr>
          <a:xfrm>
            <a:off x="640080" y="338328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C.  في الغشاء الخارجي</a:t>
            </a:r>
          </a:p>
        </p:txBody>
      </p:sp>
      <p:sp>
        <p:nvSpPr>
          <p:cNvPr id="9" name="Rounded Rectangle 8"/>
          <p:cNvSpPr/>
          <p:nvPr/>
        </p:nvSpPr>
        <p:spPr>
          <a:xfrm>
            <a:off x="6233007" y="338328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D.  في الفراغ بين الغشائين</a:t>
            </a:r>
          </a:p>
        </p:txBody>
      </p:sp>
      <p:sp>
        <p:nvSpPr>
          <p:cNvPr id="10" name="Rectangle 9"/>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د. منى · test</a:t>
            </a:r>
          </a:p>
        </p:txBody>
      </p:sp>
      <p:sp>
        <p:nvSpPr>
          <p:cNvPr id="12" name="TextBox 11"/>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12 / 14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02920"/>
            <a:ext cx="10545775" cy="274320"/>
          </a:xfrm>
          <a:prstGeom prst="rect">
            <a:avLst/>
          </a:prstGeom>
          <a:noFill/>
        </p:spPr>
        <p:txBody>
          <a:bodyPr wrap="square" anchor="t" lIns="0" rIns="0" tIns="0" bIns="0">
            <a:spAutoFit/>
          </a:bodyPr>
          <a:lstStyle/>
          <a:p>
            <a:pPr algn="l"/>
            <a:r>
              <a:rPr sz="1200" b="1">
                <a:solidFill>
                  <a:srgbClr val="3A5BD9"/>
                </a:solidFill>
                <a:latin typeface="Segoe UI"/>
              </a:rPr>
              <a:t>ANSWER 3</a:t>
            </a:r>
          </a:p>
        </p:txBody>
      </p:sp>
      <p:sp>
        <p:nvSpPr>
          <p:cNvPr id="5" name="TextBox 4"/>
          <p:cNvSpPr txBox="1"/>
          <p:nvPr/>
        </p:nvSpPr>
        <p:spPr>
          <a:xfrm>
            <a:off x="932688" y="777240"/>
            <a:ext cx="10545775" cy="868680"/>
          </a:xfrm>
          <a:prstGeom prst="rect">
            <a:avLst/>
          </a:prstGeom>
          <a:noFill/>
        </p:spPr>
        <p:txBody>
          <a:bodyPr wrap="square" anchor="t" lIns="0" rIns="0" tIns="0" bIns="0">
            <a:spAutoFit/>
          </a:bodyPr>
          <a:lstStyle/>
          <a:p>
            <a:pPr algn="r" rtl="1"/>
            <a:r>
              <a:rPr sz="3000" b="1">
                <a:solidFill>
                  <a:srgbClr val="1B2540"/>
                </a:solidFill>
                <a:latin typeface="Segoe UI"/>
              </a:rPr>
              <a:t>أين تحدث دورة كالفن داخل البلاستيدة الخضراء؟</a:t>
            </a:r>
          </a:p>
        </p:txBody>
      </p:sp>
      <p:sp>
        <p:nvSpPr>
          <p:cNvPr id="6" name="Rounded Rectangle 5"/>
          <p:cNvSpPr/>
          <p:nvPr/>
        </p:nvSpPr>
        <p:spPr>
          <a:xfrm>
            <a:off x="640080" y="205740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A.  في غشاء الثايلاكويد</a:t>
            </a:r>
          </a:p>
        </p:txBody>
      </p:sp>
      <p:sp>
        <p:nvSpPr>
          <p:cNvPr id="7" name="Rounded Rectangle 6"/>
          <p:cNvSpPr/>
          <p:nvPr/>
        </p:nvSpPr>
        <p:spPr>
          <a:xfrm>
            <a:off x="6233007" y="2057400"/>
            <a:ext cx="5318607" cy="1051560"/>
          </a:xfrm>
          <a:prstGeom prst="roundRect">
            <a:avLst>
              <a:gd name="adj" fmla="val 12000"/>
            </a:avLst>
          </a:prstGeom>
          <a:solidFill>
            <a:srgbClr val="DDF3E7"/>
          </a:solidFill>
          <a:ln w="12700">
            <a:solidFill>
              <a:srgbClr val="1F7A4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1">
                <a:solidFill>
                  <a:srgbClr val="1F7A4D"/>
                </a:solidFill>
                <a:latin typeface="Segoe UI"/>
              </a:rPr>
              <a:t>B.  في سائل الستروما</a:t>
            </a:r>
          </a:p>
        </p:txBody>
      </p:sp>
      <p:sp>
        <p:nvSpPr>
          <p:cNvPr id="8" name="Rounded Rectangle 7"/>
          <p:cNvSpPr/>
          <p:nvPr/>
        </p:nvSpPr>
        <p:spPr>
          <a:xfrm>
            <a:off x="640080" y="338328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C.  في الغشاء الخارجي</a:t>
            </a:r>
          </a:p>
        </p:txBody>
      </p:sp>
      <p:sp>
        <p:nvSpPr>
          <p:cNvPr id="9" name="Rounded Rectangle 8"/>
          <p:cNvSpPr/>
          <p:nvPr/>
        </p:nvSpPr>
        <p:spPr>
          <a:xfrm>
            <a:off x="6233007" y="338328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D.  في الفراغ بين الغشائين</a:t>
            </a:r>
          </a:p>
        </p:txBody>
      </p:sp>
      <p:sp>
        <p:nvSpPr>
          <p:cNvPr id="10" name="TextBox 9"/>
          <p:cNvSpPr txBox="1"/>
          <p:nvPr/>
        </p:nvSpPr>
        <p:spPr>
          <a:xfrm>
            <a:off x="640080" y="4892040"/>
            <a:ext cx="10911535" cy="822960"/>
          </a:xfrm>
          <a:prstGeom prst="rect">
            <a:avLst/>
          </a:prstGeom>
          <a:noFill/>
        </p:spPr>
        <p:txBody>
          <a:bodyPr wrap="square" anchor="t" lIns="0" rIns="0" tIns="0" bIns="0">
            <a:spAutoFit/>
          </a:bodyPr>
          <a:lstStyle/>
          <a:p>
            <a:pPr algn="r" rtl="1"/>
            <a:r>
              <a:rPr sz="1600" b="0">
                <a:solidFill>
                  <a:srgbClr val="4A5572"/>
                </a:solidFill>
                <a:latin typeface="Segoe UI"/>
              </a:rPr>
              <a:t>تحدث دورة كالفن في الستروما حيث تتوفر الإنزيمات اللازمة لتثبيت الكربون وتصنيع السكريات.</a:t>
            </a:r>
          </a:p>
        </p:txBody>
      </p:sp>
      <p:sp>
        <p:nvSpPr>
          <p:cNvPr id="11" name="Rectangle 10"/>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د. منى · test</a:t>
            </a:r>
          </a:p>
        </p:txBody>
      </p:sp>
      <p:sp>
        <p:nvSpPr>
          <p:cNvPr id="13" name="TextBox 12"/>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13 / 14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66928"/>
            <a:ext cx="10545775" cy="868680"/>
          </a:xfrm>
          <a:prstGeom prst="rect">
            <a:avLst/>
          </a:prstGeom>
          <a:noFill/>
        </p:spPr>
        <p:txBody>
          <a:bodyPr wrap="square" anchor="ctr" lIns="0" rIns="0" tIns="0" bIns="0">
            <a:spAutoFit/>
          </a:bodyPr>
          <a:lstStyle/>
          <a:p>
            <a:pPr algn="r" rtl="1"/>
            <a:r>
              <a:rPr sz="3000" b="1">
                <a:solidFill>
                  <a:srgbClr val="1B2540"/>
                </a:solidFill>
                <a:latin typeface="Segoe UI"/>
              </a:rPr>
              <a:t>ملخص ومراجعة المفاهيم</a:t>
            </a:r>
          </a:p>
        </p:txBody>
      </p:sp>
      <p:sp>
        <p:nvSpPr>
          <p:cNvPr id="5" name="Rectangle 4"/>
          <p:cNvSpPr/>
          <p:nvPr/>
        </p:nvSpPr>
        <p:spPr>
          <a:xfrm>
            <a:off x="11405311" y="200253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74519"/>
            <a:ext cx="10545775" cy="868680"/>
          </a:xfrm>
          <a:prstGeom prst="rect">
            <a:avLst/>
          </a:prstGeom>
          <a:noFill/>
        </p:spPr>
        <p:txBody>
          <a:bodyPr wrap="square" anchor="t" lIns="0" rIns="0" tIns="0" bIns="0">
            <a:spAutoFit/>
          </a:bodyPr>
          <a:lstStyle/>
          <a:p>
            <a:pPr algn="r" rtl="1"/>
            <a:r>
              <a:rPr sz="2400" b="0">
                <a:solidFill>
                  <a:srgbClr val="1B2540"/>
                </a:solidFill>
                <a:latin typeface="Segoe UI"/>
              </a:rPr>
              <a:t>البناء الضوئي يحول الطاقة الضوئية إلى طاقة كيميائية في الجلوكوز.</a:t>
            </a:r>
          </a:p>
        </p:txBody>
      </p:sp>
      <p:sp>
        <p:nvSpPr>
          <p:cNvPr id="7" name="Rectangle 6"/>
          <p:cNvSpPr/>
          <p:nvPr/>
        </p:nvSpPr>
        <p:spPr>
          <a:xfrm>
            <a:off x="11405311" y="287121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743200"/>
            <a:ext cx="10545775" cy="868680"/>
          </a:xfrm>
          <a:prstGeom prst="rect">
            <a:avLst/>
          </a:prstGeom>
          <a:noFill/>
        </p:spPr>
        <p:txBody>
          <a:bodyPr wrap="square" anchor="t" lIns="0" rIns="0" tIns="0" bIns="0">
            <a:spAutoFit/>
          </a:bodyPr>
          <a:lstStyle/>
          <a:p>
            <a:pPr algn="r" rtl="1"/>
            <a:r>
              <a:rPr sz="2400" b="0">
                <a:solidFill>
                  <a:srgbClr val="1B2540"/>
                </a:solidFill>
                <a:latin typeface="Segoe UI"/>
              </a:rPr>
              <a:t>تحدث العملية في البلاستيدات الخضراء وليس في الميتوكوندريا.</a:t>
            </a:r>
          </a:p>
        </p:txBody>
      </p:sp>
      <p:sp>
        <p:nvSpPr>
          <p:cNvPr id="9" name="Rectangle 8"/>
          <p:cNvSpPr/>
          <p:nvPr/>
        </p:nvSpPr>
        <p:spPr>
          <a:xfrm>
            <a:off x="11405311" y="373989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611879"/>
            <a:ext cx="10545775" cy="868680"/>
          </a:xfrm>
          <a:prstGeom prst="rect">
            <a:avLst/>
          </a:prstGeom>
          <a:noFill/>
        </p:spPr>
        <p:txBody>
          <a:bodyPr wrap="square" anchor="t" lIns="0" rIns="0" tIns="0" bIns="0">
            <a:spAutoFit/>
          </a:bodyPr>
          <a:lstStyle/>
          <a:p>
            <a:pPr algn="r" rtl="1"/>
            <a:r>
              <a:rPr sz="2400" b="0">
                <a:solidFill>
                  <a:srgbClr val="1B2540"/>
                </a:solidFill>
                <a:latin typeface="Segoe UI"/>
              </a:rPr>
              <a:t>يمتص النبات ثاني أكسيد الكربون ويطلق الأكسجين كناتج ثانوي.</a:t>
            </a:r>
          </a:p>
        </p:txBody>
      </p:sp>
      <p:sp>
        <p:nvSpPr>
          <p:cNvPr id="11" name="Rectangle 10"/>
          <p:cNvSpPr/>
          <p:nvPr/>
        </p:nvSpPr>
        <p:spPr>
          <a:xfrm>
            <a:off x="11405311" y="4608575"/>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4480559"/>
            <a:ext cx="10545775" cy="868680"/>
          </a:xfrm>
          <a:prstGeom prst="rect">
            <a:avLst/>
          </a:prstGeom>
          <a:noFill/>
        </p:spPr>
        <p:txBody>
          <a:bodyPr wrap="square" anchor="t" lIns="0" rIns="0" tIns="0" bIns="0">
            <a:spAutoFit/>
          </a:bodyPr>
          <a:lstStyle/>
          <a:p>
            <a:pPr algn="r" rtl="1"/>
            <a:r>
              <a:rPr sz="2400" b="0">
                <a:solidFill>
                  <a:srgbClr val="1B2540"/>
                </a:solidFill>
                <a:latin typeface="Segoe UI"/>
              </a:rPr>
              <a:t>تتأثر العملية بالضوء، ثاني أكسيد الكربون، ودرجة الحرارة.</a:t>
            </a:r>
          </a:p>
        </p:txBody>
      </p:sp>
      <p:sp>
        <p:nvSpPr>
          <p:cNvPr id="13" name="Rectangle 12"/>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د. منى · test</a:t>
            </a:r>
          </a:p>
        </p:txBody>
      </p:sp>
      <p:sp>
        <p:nvSpPr>
          <p:cNvPr id="15" name="TextBox 14"/>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14 / 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