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سنبدأ اليوم بمراجعة سريعة لأساسيات الدوال وكيفية عمل النطاقات في بايثون. الهدف هو الانتقال من كتابة دوال بسيطة إلى بناء دوال احترافية وقابلة لإعادة الاستخدام. سنركز على تحسين جودة الكود من خلال تقنيات متقدمة.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تسمح لنا *args و **kwargs بكتابة دوال تقبل أي عدد من المدخلات دون تحديد مسبق. هذا يجعل الدوال أكثر مرونة عند التعامل مع بيانات غير معروفة الحجم. سنرى كيف يتم تجميع هذه المدخلات داخل مصفوفة أو قاموس.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من خلال استخدام الرموز الخاصة، يمكننا التحكم في كيفية تمرير الوسائط إلى الدالة. هذا يمنع المستخدمين من تمرير الوسائط بطريقة خاطئة ويجعل الكود أكثر قابلية للتنبؤ. هذه الميزة ضرورية عند بناء مكتبات برمجية قوية.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تلميحات الأنواع تساعد المطورين الآخرين على فهم ما تتوقعه الدالة بالضبط. على الرغم من أن بايثون لغة ديناميكية، إلا أن هذه التلميحات تقلل من الأخطاء المنطقية بشكل كبير. سنستخدم مكتبة typing لتعريف هياكل بيانات أكثر دقة.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التصميم النمطي يعني أن كل دالة يجب أن تقوم بمهمة واحدة فقط وبشكل جيد. هذا يجعل الكود أسهل في الصيانة والاختبار لاحقاً. سنناقش كيف تساهم التوثيقات الجيدة في فهم الكود من قبل فريق العمل.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هذا الجزء، سنقوم بأخذ كود مكتوب بطريقة تقليدية وإعادة هيكلته ليصبح أكثر احترافية. سنطبق كل ما تعلمناه من تقنيات لضمان أن الكود أصبح نظيفاً وقابلاً للتوسع. الهدف هو ممارسة هذه المفاهيم في سيناريو واقعي.</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يقوم هذا المثال بتعريف دالة تقبل عدداً غير محدد من المدخلات باستخدام args لتجميع الأرقام و kwargs لتخزين المعاملات المسماة. يتم تمرير القيم الرقمية ليتم جمعها بينما يتم عرض المعاملات الإضافية كقاموس. تطبع الدالة العنوان، مجموع الأرقام وهو 60، ثم حالة التقرير والأولوية.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يوضح هذا المثال استخدام تلميحات النوع Type Hinting لتحسين وضوح الكود وتحديد أن width يجب أن يكون معاملًا موضعيًا فقط بفضل الرمز /. يتم حساب المساحة بضرب العرض في الارتفاع الافتراضي أو المعطى. تطبع الدالة النتيجة النهائية وهي 11.0.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minute to answer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لقد غطينا اليوم أهم التقنيات لجعل دوال بايثون أكثر قوة ووضوحاً. تذكر دائماً أن الكود الجيد هو الكود الذي يسهل قراءته وصيانته من قبل الآخرين. ابدأ بتطبيق هذه الممارسات في مشاريعك القادمة لرفع مستوى كفاءتك البرمجية.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148840"/>
            <a:ext cx="1005840" cy="82296"/>
          </a:xfrm>
          <a:prstGeom prst="rect">
            <a:avLst/>
          </a:prstGeom>
          <a:solidFill>
            <a:srgbClr val="FFE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468880"/>
            <a:ext cx="10332720" cy="2194560"/>
          </a:xfrm>
          <a:prstGeom prst="rect">
            <a:avLst/>
          </a:prstGeom>
          <a:noFill/>
        </p:spPr>
        <p:txBody>
          <a:bodyPr wrap="square" anchor="t" lIns="0" rIns="0" tIns="0" bIns="0">
            <a:spAutoFit/>
          </a:bodyPr>
          <a:lstStyle/>
          <a:p>
            <a:pPr algn="l"/>
            <a:r>
              <a:rPr sz="4800" b="1">
                <a:solidFill>
                  <a:srgbClr val="FFFFFF"/>
                </a:solidFill>
                <a:latin typeface="Segoe UI"/>
              </a:rPr>
              <a:t>Python Functions</a:t>
            </a:r>
          </a:p>
        </p:txBody>
      </p:sp>
      <p:sp>
        <p:nvSpPr>
          <p:cNvPr id="6" name="TextBox 5"/>
          <p:cNvSpPr txBox="1"/>
          <p:nvPr/>
        </p:nvSpPr>
        <p:spPr>
          <a:xfrm>
            <a:off x="914400" y="4892040"/>
            <a:ext cx="10058400" cy="457200"/>
          </a:xfrm>
          <a:prstGeom prst="rect">
            <a:avLst/>
          </a:prstGeom>
          <a:noFill/>
        </p:spPr>
        <p:txBody>
          <a:bodyPr wrap="square" anchor="t" lIns="0" rIns="0" tIns="0" bIns="0">
            <a:spAutoFit/>
          </a:bodyPr>
          <a:lstStyle/>
          <a:p>
            <a:pPr algn="r" rtl="1"/>
            <a:r>
              <a:rPr sz="2200" b="0">
                <a:solidFill>
                  <a:srgbClr val="FFFFFF"/>
                </a:solidFill>
                <a:latin typeface="Segoe UI"/>
              </a:rPr>
              <a:t>مهندسه Maryam Sayed Ahmed</a:t>
            </a:r>
          </a:p>
        </p:txBody>
      </p:sp>
      <p:sp>
        <p:nvSpPr>
          <p:cNvPr id="7" name="TextBox 6"/>
          <p:cNvSpPr txBox="1"/>
          <p:nvPr/>
        </p:nvSpPr>
        <p:spPr>
          <a:xfrm>
            <a:off x="640080" y="6309360"/>
            <a:ext cx="8229600" cy="320040"/>
          </a:xfrm>
          <a:prstGeom prst="rect">
            <a:avLst/>
          </a:prstGeom>
          <a:noFill/>
        </p:spPr>
        <p:txBody>
          <a:bodyPr wrap="square" anchor="t" lIns="0" rIns="0" tIns="0" bIns="0">
            <a:spAutoFit/>
          </a:bodyPr>
          <a:lstStyle/>
          <a:p>
            <a:pPr algn="l"/>
            <a:r>
              <a:rPr sz="1200" b="0">
                <a:solidFill>
                  <a:srgbClr val="B8C1D9"/>
                </a:solidFill>
                <a:latin typeface="Segoe UI"/>
              </a:rPr>
              <a:t/>
            </a:r>
          </a:p>
        </p:txBody>
      </p:sp>
      <p:sp>
        <p:nvSpPr>
          <p:cNvPr id="8" name="TextBox 7"/>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B8C1D9"/>
                </a:solidFill>
                <a:latin typeface="Segoe UI"/>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مقدمة في دوال بايثون المتقدمة</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مراجعة سريعة لمفاهيم الدوال الأساسية</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فهم نطاق المتغيرات المحلية والعالمية</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أهمية تنظيم الكود باستخدام الدوال</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أهداف الجلسة: احتراف كتابة دوال مرنة</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التعامل المتقدم مع الوسائط</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استخدام *args لاستقبال عدد غير محدد</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استخدام **kwargs لتمرير وسائط بأسماء</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تسهيل استدعاء الدوال بمرونة عالية</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تجنب تكرار الكود في الدوال</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فرض قيود على وسائط الدوال</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استخدام / لفرض وسائط موضعية فقط</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استخدام * لفرض وسائط اسمية فقط</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تحسين أمان الدوال ومنع الأخطاء</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تحديد واجهة واضحة لمستخدم الدالة</a:t>
            </a:r>
          </a:p>
        </p:txBody>
      </p:sp>
      <p:sp>
        <p:nvSpPr>
          <p:cNvPr id="13" name="Rounded Rectangle 12"/>
          <p:cNvSpPr/>
          <p:nvPr/>
        </p:nvSpPr>
        <p:spPr>
          <a:xfrm>
            <a:off x="7405231" y="1828799"/>
            <a:ext cx="4146383" cy="603503"/>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تحديد الوسائط الموضعية</a:t>
            </a:r>
          </a:p>
        </p:txBody>
      </p:sp>
      <p:sp>
        <p:nvSpPr>
          <p:cNvPr id="14" name="Down Arrow 13"/>
          <p:cNvSpPr/>
          <p:nvPr/>
        </p:nvSpPr>
        <p:spPr>
          <a:xfrm>
            <a:off x="9377839" y="2468879"/>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706624"/>
            <a:ext cx="4146383" cy="603503"/>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وضع الفاصل /</a:t>
            </a:r>
          </a:p>
        </p:txBody>
      </p:sp>
      <p:sp>
        <p:nvSpPr>
          <p:cNvPr id="16" name="Down Arrow 15"/>
          <p:cNvSpPr/>
          <p:nvPr/>
        </p:nvSpPr>
        <p:spPr>
          <a:xfrm>
            <a:off x="9377839" y="3346704"/>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584448"/>
            <a:ext cx="4146383" cy="603503"/>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تحديد الوسائط الاسمية</a:t>
            </a:r>
          </a:p>
        </p:txBody>
      </p:sp>
      <p:sp>
        <p:nvSpPr>
          <p:cNvPr id="18" name="Down Arrow 17"/>
          <p:cNvSpPr/>
          <p:nvPr/>
        </p:nvSpPr>
        <p:spPr>
          <a:xfrm>
            <a:off x="9377839" y="4224528"/>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462272"/>
            <a:ext cx="4146383" cy="603503"/>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وضع الفاصل *</a:t>
            </a:r>
          </a:p>
        </p:txBody>
      </p:sp>
      <p:sp>
        <p:nvSpPr>
          <p:cNvPr id="20" name="Down Arrow 19"/>
          <p:cNvSpPr/>
          <p:nvPr/>
        </p:nvSpPr>
        <p:spPr>
          <a:xfrm>
            <a:off x="9377839" y="5102352"/>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05231" y="5340096"/>
            <a:ext cx="4146383" cy="603503"/>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تحديد الوسائط المتبقية</a:t>
            </a:r>
          </a:p>
        </p:txBody>
      </p:sp>
      <p:sp>
        <p:nvSpPr>
          <p:cNvPr id="22" name="Rectangle 21"/>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24" name="TextBox 23"/>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تحسين وضوح الكود بـ Type Hinting</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تحديد أنواع البيانات للمدخلات والمخرجات</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استخدام مكتبة typing للأنواع المعقدة</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تسهيل اكتشاف الأخطاء عبر أدوات التحليل</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تحسين تجربة التطوير في المحررات</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أفضل الممارسات للتصميم النمطي</a:t>
            </a:r>
          </a:p>
        </p:txBody>
      </p:sp>
      <p:sp>
        <p:nvSpPr>
          <p:cNvPr id="5" name="Rectangle 4"/>
          <p:cNvSpPr/>
          <p:nvPr/>
        </p:nvSpPr>
        <p:spPr>
          <a:xfrm>
            <a:off x="6604235"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مبدأ المسؤولية الواحدة لكل دالة</a:t>
            </a:r>
          </a:p>
        </p:txBody>
      </p:sp>
      <p:sp>
        <p:nvSpPr>
          <p:cNvPr id="7" name="Rectangle 6"/>
          <p:cNvSpPr/>
          <p:nvPr/>
        </p:nvSpPr>
        <p:spPr>
          <a:xfrm>
            <a:off x="6604235"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تقليل الاعتماد على المتغيرات العالمية</a:t>
            </a:r>
          </a:p>
        </p:txBody>
      </p:sp>
      <p:sp>
        <p:nvSpPr>
          <p:cNvPr id="9" name="Rectangle 8"/>
          <p:cNvSpPr/>
          <p:nvPr/>
        </p:nvSpPr>
        <p:spPr>
          <a:xfrm>
            <a:off x="6604235"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5744699" cy="868680"/>
          </a:xfrm>
          <a:prstGeom prst="rect">
            <a:avLst/>
          </a:prstGeom>
          <a:noFill/>
        </p:spPr>
        <p:txBody>
          <a:bodyPr wrap="square" anchor="t" lIns="0" rIns="0" tIns="0" bIns="0">
            <a:spAutoFit/>
          </a:bodyPr>
          <a:lstStyle/>
          <a:p>
            <a:pPr algn="r" rtl="1"/>
            <a:r>
              <a:rPr sz="2400" b="0">
                <a:solidFill>
                  <a:srgbClr val="1B2540"/>
                </a:solidFill>
                <a:latin typeface="Segoe UI"/>
              </a:rPr>
              <a:t>كتابة وثائق توضيحية Docstrings</a:t>
            </a:r>
          </a:p>
        </p:txBody>
      </p:sp>
      <p:sp>
        <p:nvSpPr>
          <p:cNvPr id="11" name="Rectangle 10"/>
          <p:cNvSpPr/>
          <p:nvPr/>
        </p:nvSpPr>
        <p:spPr>
          <a:xfrm>
            <a:off x="6604235"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5744699" cy="868680"/>
          </a:xfrm>
          <a:prstGeom prst="rect">
            <a:avLst/>
          </a:prstGeom>
          <a:noFill/>
        </p:spPr>
        <p:txBody>
          <a:bodyPr wrap="square" anchor="t" lIns="0" rIns="0" tIns="0" bIns="0">
            <a:spAutoFit/>
          </a:bodyPr>
          <a:lstStyle/>
          <a:p>
            <a:pPr algn="r" rtl="1"/>
            <a:r>
              <a:rPr sz="2400" b="0">
                <a:solidFill>
                  <a:srgbClr val="1B2540"/>
                </a:solidFill>
                <a:latin typeface="Segoe UI"/>
              </a:rPr>
              <a:t>تسهيل عملية اختبار الدوال</a:t>
            </a:r>
          </a:p>
        </p:txBody>
      </p:sp>
      <p:sp>
        <p:nvSpPr>
          <p:cNvPr id="13" name="Rounded Rectangle 12"/>
          <p:cNvSpPr/>
          <p:nvPr/>
        </p:nvSpPr>
        <p:spPr>
          <a:xfrm>
            <a:off x="7405231" y="182879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تحليل المهمة</a:t>
            </a:r>
          </a:p>
        </p:txBody>
      </p:sp>
      <p:sp>
        <p:nvSpPr>
          <p:cNvPr id="14" name="Down Arrow 13"/>
          <p:cNvSpPr/>
          <p:nvPr/>
        </p:nvSpPr>
        <p:spPr>
          <a:xfrm>
            <a:off x="9377839" y="264261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5231" y="2880359"/>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تقسيم المهام الفرعية</a:t>
            </a:r>
          </a:p>
        </p:txBody>
      </p:sp>
      <p:sp>
        <p:nvSpPr>
          <p:cNvPr id="16" name="Down Arrow 15"/>
          <p:cNvSpPr/>
          <p:nvPr/>
        </p:nvSpPr>
        <p:spPr>
          <a:xfrm>
            <a:off x="9377839" y="3694175"/>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5231" y="3931920"/>
            <a:ext cx="4146383" cy="777240"/>
          </a:xfrm>
          <a:prstGeom prst="roundRect">
            <a:avLst/>
          </a:prstGeom>
          <a:solidFill>
            <a:srgbClr val="FFFFFF"/>
          </a:solidFill>
          <a:ln w="12700">
            <a:solidFill>
              <a:srgbClr val="3A5BD9"/>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1B2540"/>
                </a:solidFill>
                <a:latin typeface="Segoe UI"/>
              </a:rPr>
              <a:t>بناء دوال مستقلة</a:t>
            </a:r>
          </a:p>
        </p:txBody>
      </p:sp>
      <p:sp>
        <p:nvSpPr>
          <p:cNvPr id="18" name="Down Arrow 17"/>
          <p:cNvSpPr/>
          <p:nvPr/>
        </p:nvSpPr>
        <p:spPr>
          <a:xfrm>
            <a:off x="9377839" y="4745736"/>
            <a:ext cx="201168" cy="201167"/>
          </a:xfrm>
          <a:prstGeom prst="downArrow">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05231" y="4983479"/>
            <a:ext cx="4146383" cy="777240"/>
          </a:xfrm>
          <a:prstGeom prst="round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rtl="1"/>
            <a:r>
              <a:rPr sz="1600" b="1">
                <a:solidFill>
                  <a:srgbClr val="FFFFFF"/>
                </a:solidFill>
                <a:latin typeface="Segoe UI"/>
              </a:rPr>
              <a:t>ربط الدوال ببعضها</a:t>
            </a:r>
          </a:p>
        </p:txBody>
      </p:sp>
      <p:sp>
        <p:nvSpPr>
          <p:cNvPr id="20" name="Rectangle 1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22" name="TextBox 2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تطبيق عملي وإعادة هيكلة الكود</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تحويل كود إجرائي إلى دوال نمطية</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تطبيق تلميحات الأنواع على الكود</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تحسين مرونة الدوال باستخدام *args</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اختبار الكود بعد التعديلات</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CODE EXAMPLE</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3000" b="1">
                <a:solidFill>
                  <a:srgbClr val="1B2540"/>
                </a:solidFill>
                <a:latin typeface="Segoe UI"/>
              </a:rPr>
              <a:t>استخدام args و kwargs للتعامل مع المدخلات المرنة</a:t>
            </a:r>
          </a:p>
        </p:txBody>
      </p:sp>
      <p:sp>
        <p:nvSpPr>
          <p:cNvPr id="6" name="Rounded Rectangle 5"/>
          <p:cNvSpPr/>
          <p:nvPr/>
        </p:nvSpPr>
        <p:spPr>
          <a:xfrm>
            <a:off x="640080" y="1828800"/>
            <a:ext cx="6983382" cy="4160520"/>
          </a:xfrm>
          <a:prstGeom prst="roundRect">
            <a:avLst>
              <a:gd name="adj" fmla="val 3000"/>
            </a:avLst>
          </a:prstGeom>
          <a:solidFill>
            <a:srgbClr val="121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11680"/>
            <a:ext cx="6526182" cy="3794759"/>
          </a:xfrm>
          <a:prstGeom prst="rect">
            <a:avLst/>
          </a:prstGeom>
          <a:noFill/>
        </p:spPr>
        <p:txBody>
          <a:bodyPr wrap="square">
            <a:spAutoFit/>
          </a:bodyPr>
          <a:lstStyle/>
          <a:p>
            <a:pPr algn="l"/>
            <a:r>
              <a:rPr sz="1600" b="0">
                <a:solidFill>
                  <a:srgbClr val="E6EAF5"/>
                </a:solidFill>
                <a:latin typeface="Consolas"/>
              </a:rPr>
              <a:t>def summarize_data(title, *args, **kwargs):</a:t>
            </a:r>
          </a:p>
          <a:p>
            <a:pPr algn="l"/>
            <a:r>
              <a:rPr sz="1600" b="0">
                <a:solidFill>
                  <a:srgbClr val="E6EAF5"/>
                </a:solidFill>
                <a:latin typeface="Consolas"/>
              </a:rPr>
              <a:t>    print(f"Title: {title}")</a:t>
            </a:r>
          </a:p>
          <a:p>
            <a:pPr algn="l"/>
            <a:r>
              <a:rPr sz="1600" b="0">
                <a:solidFill>
                  <a:srgbClr val="E6EAF5"/>
                </a:solidFill>
                <a:latin typeface="Consolas"/>
              </a:rPr>
              <a:t>    print(f"Values: {sum(args)}")</a:t>
            </a:r>
          </a:p>
          <a:p>
            <a:pPr algn="l"/>
            <a:r>
              <a:rPr sz="1600" b="0">
                <a:solidFill>
                  <a:srgbClr val="E6EAF5"/>
                </a:solidFill>
                <a:latin typeface="Consolas"/>
              </a:rPr>
              <a:t>    for key, value in kwargs.items():</a:t>
            </a:r>
          </a:p>
          <a:p>
            <a:pPr algn="l"/>
            <a:r>
              <a:rPr sz="1600" b="0">
                <a:solidFill>
                  <a:srgbClr val="E6EAF5"/>
                </a:solidFill>
                <a:latin typeface="Consolas"/>
              </a:rPr>
              <a:t>        print(f"{key}: {value}")</a:t>
            </a:r>
          </a:p>
          <a:p>
            <a:pPr algn="l"/>
            <a:r>
              <a:rPr sz="1600" b="0">
                <a:solidFill>
                  <a:srgbClr val="E6EAF5"/>
                </a:solidFill>
                <a:latin typeface="Consolas"/>
              </a:rPr>
              <a:t/>
            </a:r>
          </a:p>
          <a:p>
            <a:pPr algn="l"/>
            <a:r>
              <a:rPr sz="1600" b="0">
                <a:solidFill>
                  <a:srgbClr val="E6EAF5"/>
                </a:solidFill>
                <a:latin typeface="Consolas"/>
              </a:rPr>
              <a:t>summarize_data("Report", 10, 20, 30, status="Active", priority=1)</a:t>
            </a:r>
          </a:p>
        </p:txBody>
      </p:sp>
      <p:sp>
        <p:nvSpPr>
          <p:cNvPr id="8" name="Rounded Rectangle 7"/>
          <p:cNvSpPr/>
          <p:nvPr/>
        </p:nvSpPr>
        <p:spPr>
          <a:xfrm>
            <a:off x="7897782" y="1828800"/>
            <a:ext cx="3653832" cy="4160520"/>
          </a:xfrm>
          <a:prstGeom prst="roundRect">
            <a:avLst>
              <a:gd name="adj" fmla="val 3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6382" y="2011680"/>
            <a:ext cx="3196632" cy="274320"/>
          </a:xfrm>
          <a:prstGeom prst="rect">
            <a:avLst/>
          </a:prstGeom>
          <a:noFill/>
        </p:spPr>
        <p:txBody>
          <a:bodyPr wrap="square" anchor="t" lIns="0" rIns="0" tIns="0" bIns="0">
            <a:spAutoFit/>
          </a:bodyPr>
          <a:lstStyle/>
          <a:p>
            <a:pPr algn="l"/>
            <a:r>
              <a:rPr sz="1200" b="1">
                <a:solidFill>
                  <a:srgbClr val="1F7A4D"/>
                </a:solidFill>
                <a:latin typeface="Segoe UI"/>
              </a:rPr>
              <a:t>OUTPUT</a:t>
            </a:r>
          </a:p>
        </p:txBody>
      </p:sp>
      <p:sp>
        <p:nvSpPr>
          <p:cNvPr id="10" name="TextBox 9"/>
          <p:cNvSpPr txBox="1"/>
          <p:nvPr/>
        </p:nvSpPr>
        <p:spPr>
          <a:xfrm>
            <a:off x="8126382" y="2377440"/>
            <a:ext cx="3196632" cy="3429000"/>
          </a:xfrm>
          <a:prstGeom prst="rect">
            <a:avLst/>
          </a:prstGeom>
          <a:noFill/>
        </p:spPr>
        <p:txBody>
          <a:bodyPr wrap="square">
            <a:spAutoFit/>
          </a:bodyPr>
          <a:lstStyle/>
          <a:p>
            <a:pPr algn="l"/>
            <a:r>
              <a:rPr sz="1300" b="0">
                <a:solidFill>
                  <a:srgbClr val="1B2540"/>
                </a:solidFill>
                <a:latin typeface="Consolas"/>
              </a:rPr>
              <a:t>Title: Report</a:t>
            </a:r>
          </a:p>
          <a:p>
            <a:pPr algn="l"/>
            <a:r>
              <a:rPr sz="1300" b="0">
                <a:solidFill>
                  <a:srgbClr val="1B2540"/>
                </a:solidFill>
                <a:latin typeface="Consolas"/>
              </a:rPr>
              <a:t>Values: 60</a:t>
            </a:r>
          </a:p>
          <a:p>
            <a:pPr algn="l"/>
            <a:r>
              <a:rPr sz="1300" b="0">
                <a:solidFill>
                  <a:srgbClr val="1B2540"/>
                </a:solidFill>
                <a:latin typeface="Consolas"/>
              </a:rPr>
              <a:t>status: Active</a:t>
            </a:r>
          </a:p>
          <a:p>
            <a:pPr algn="l"/>
            <a:r>
              <a:rPr sz="1300" b="0">
                <a:solidFill>
                  <a:srgbClr val="1B2540"/>
                </a:solidFill>
                <a:latin typeface="Consolas"/>
              </a:rPr>
              <a:t>priority: 1</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CODE EXAMPLE</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r" rtl="1"/>
            <a:r>
              <a:rPr sz="3000" b="1">
                <a:solidFill>
                  <a:srgbClr val="1B2540"/>
                </a:solidFill>
                <a:latin typeface="Segoe UI"/>
              </a:rPr>
              <a:t>استخدام تلميحات النوع وتحديد نوع المعاملات</a:t>
            </a:r>
          </a:p>
        </p:txBody>
      </p:sp>
      <p:sp>
        <p:nvSpPr>
          <p:cNvPr id="6" name="Rounded Rectangle 5"/>
          <p:cNvSpPr/>
          <p:nvPr/>
        </p:nvSpPr>
        <p:spPr>
          <a:xfrm>
            <a:off x="640080" y="1828800"/>
            <a:ext cx="6983382" cy="4160520"/>
          </a:xfrm>
          <a:prstGeom prst="roundRect">
            <a:avLst>
              <a:gd name="adj" fmla="val 3000"/>
            </a:avLst>
          </a:prstGeom>
          <a:solidFill>
            <a:srgbClr val="121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11680"/>
            <a:ext cx="6526182" cy="3794759"/>
          </a:xfrm>
          <a:prstGeom prst="rect">
            <a:avLst/>
          </a:prstGeom>
          <a:noFill/>
        </p:spPr>
        <p:txBody>
          <a:bodyPr wrap="square">
            <a:spAutoFit/>
          </a:bodyPr>
          <a:lstStyle/>
          <a:p>
            <a:pPr algn="l"/>
            <a:r>
              <a:rPr sz="1600" b="0">
                <a:solidFill>
                  <a:srgbClr val="E6EAF5"/>
                </a:solidFill>
                <a:latin typeface="Consolas"/>
              </a:rPr>
              <a:t>def calculate_area(width: float, /, height: float = 10.0) -&gt; float:</a:t>
            </a:r>
          </a:p>
          <a:p>
            <a:pPr algn="l"/>
            <a:r>
              <a:rPr sz="1600" b="0">
                <a:solidFill>
                  <a:srgbClr val="E6EAF5"/>
                </a:solidFill>
                <a:latin typeface="Consolas"/>
              </a:rPr>
              <a:t>    return width * height</a:t>
            </a:r>
          </a:p>
          <a:p>
            <a:pPr algn="l"/>
            <a:r>
              <a:rPr sz="1600" b="0">
                <a:solidFill>
                  <a:srgbClr val="E6EAF5"/>
                </a:solidFill>
                <a:latin typeface="Consolas"/>
              </a:rPr>
              <a:t/>
            </a:r>
          </a:p>
          <a:p>
            <a:pPr algn="l"/>
            <a:r>
              <a:rPr sz="1600" b="0">
                <a:solidFill>
                  <a:srgbClr val="E6EAF5"/>
                </a:solidFill>
                <a:latin typeface="Consolas"/>
              </a:rPr>
              <a:t>result = calculate_area(5.5, height=2.0)</a:t>
            </a:r>
          </a:p>
          <a:p>
            <a:pPr algn="l"/>
            <a:r>
              <a:rPr sz="1600" b="0">
                <a:solidFill>
                  <a:srgbClr val="E6EAF5"/>
                </a:solidFill>
                <a:latin typeface="Consolas"/>
              </a:rPr>
              <a:t>print(f"Area: {result}")</a:t>
            </a:r>
          </a:p>
        </p:txBody>
      </p:sp>
      <p:sp>
        <p:nvSpPr>
          <p:cNvPr id="8" name="Rounded Rectangle 7"/>
          <p:cNvSpPr/>
          <p:nvPr/>
        </p:nvSpPr>
        <p:spPr>
          <a:xfrm>
            <a:off x="7897782" y="1828800"/>
            <a:ext cx="3653832" cy="4160520"/>
          </a:xfrm>
          <a:prstGeom prst="roundRect">
            <a:avLst>
              <a:gd name="adj" fmla="val 3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6382" y="2011680"/>
            <a:ext cx="3196632" cy="274320"/>
          </a:xfrm>
          <a:prstGeom prst="rect">
            <a:avLst/>
          </a:prstGeom>
          <a:noFill/>
        </p:spPr>
        <p:txBody>
          <a:bodyPr wrap="square" anchor="t" lIns="0" rIns="0" tIns="0" bIns="0">
            <a:spAutoFit/>
          </a:bodyPr>
          <a:lstStyle/>
          <a:p>
            <a:pPr algn="l"/>
            <a:r>
              <a:rPr sz="1200" b="1">
                <a:solidFill>
                  <a:srgbClr val="1F7A4D"/>
                </a:solidFill>
                <a:latin typeface="Segoe UI"/>
              </a:rPr>
              <a:t>OUTPUT</a:t>
            </a:r>
          </a:p>
        </p:txBody>
      </p:sp>
      <p:sp>
        <p:nvSpPr>
          <p:cNvPr id="10" name="TextBox 9"/>
          <p:cNvSpPr txBox="1"/>
          <p:nvPr/>
        </p:nvSpPr>
        <p:spPr>
          <a:xfrm>
            <a:off x="8126382" y="2377440"/>
            <a:ext cx="3196632" cy="3429000"/>
          </a:xfrm>
          <a:prstGeom prst="rect">
            <a:avLst/>
          </a:prstGeom>
          <a:noFill/>
        </p:spPr>
        <p:txBody>
          <a:bodyPr wrap="square">
            <a:spAutoFit/>
          </a:bodyPr>
          <a:lstStyle/>
          <a:p>
            <a:pPr algn="l"/>
            <a:r>
              <a:rPr sz="1300" b="0">
                <a:solidFill>
                  <a:srgbClr val="1B2540"/>
                </a:solidFill>
                <a:latin typeface="Consolas"/>
              </a:rPr>
              <a:t>Area: 11.0</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l"/>
            <a:r>
              <a:rPr sz="2400" b="1">
                <a:solidFill>
                  <a:srgbClr val="1B2540"/>
                </a:solidFill>
                <a:latin typeface="Segoe UI"/>
              </a:rPr>
              <a:t>What is the primary purpose of using *args in a Python function definition?</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A.  To enforce a specific number of arguments</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B.  To accept a variable number of positional arguments</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C.  To define optional keyword arguments</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D.  To restrict input to a single data type</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1</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l"/>
            <a:r>
              <a:rPr sz="2400" b="1">
                <a:solidFill>
                  <a:srgbClr val="1B2540"/>
                </a:solidFill>
                <a:latin typeface="Segoe UI"/>
              </a:rPr>
              <a:t>What is the primary purpose of using *args in a Python function definition?</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A.  To enforce a specific number of arguments</a:t>
            </a:r>
          </a:p>
        </p:txBody>
      </p:sp>
      <p:sp>
        <p:nvSpPr>
          <p:cNvPr id="7" name="Rounded Rectangle 6"/>
          <p:cNvSpPr/>
          <p:nvPr/>
        </p:nvSpPr>
        <p:spPr>
          <a:xfrm>
            <a:off x="6233007"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1">
                <a:solidFill>
                  <a:srgbClr val="1F7A4D"/>
                </a:solidFill>
                <a:latin typeface="Segoe UI"/>
              </a:rPr>
              <a:t>B.  To accept a variable number of positional arguments</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C.  To define optional keyword arguments</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D.  To restrict input to a single data type</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يسمح المعامل *args بتمرير عدد غير محدد من الوسائط الموضعية إلى الدالة، حيث يتم تجميعها داخل tuple.</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l"/>
            <a:r>
              <a:rPr sz="2400" b="1">
                <a:solidFill>
                  <a:srgbClr val="1B2540"/>
                </a:solidFill>
                <a:latin typeface="Segoe UI"/>
              </a:rPr>
              <a:t>In the function definition 'def func(a, /, b):', what does the forward slash (/) signify?</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A.  Parameter 'a' must be positional-only</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B.  Parameter 'a' must be keyword-only</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C.  Parameter 'b' must be positional-only</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D.  Parameter 'b' must be keyword-only</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2</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l"/>
            <a:r>
              <a:rPr sz="2400" b="1">
                <a:solidFill>
                  <a:srgbClr val="1B2540"/>
                </a:solidFill>
                <a:latin typeface="Segoe UI"/>
              </a:rPr>
              <a:t>In the function definition 'def func(a, /, b):', what does the forward slash (/) signify?</a:t>
            </a:r>
          </a:p>
        </p:txBody>
      </p:sp>
      <p:sp>
        <p:nvSpPr>
          <p:cNvPr id="6" name="Rounded Rectangle 5"/>
          <p:cNvSpPr/>
          <p:nvPr/>
        </p:nvSpPr>
        <p:spPr>
          <a:xfrm>
            <a:off x="640080"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1">
                <a:solidFill>
                  <a:srgbClr val="1F7A4D"/>
                </a:solidFill>
                <a:latin typeface="Segoe UI"/>
              </a:rPr>
              <a:t>A.  Parameter 'a' must be positional-only</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B.  Parameter 'a' must be keyword-only</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C.  Parameter 'b' must be positional-only</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D.  Parameter 'b' must be keyword-only</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الشرطة المائلة (/) في تعريف الدالة تحدد أن المعاملات التي تسبقها يجب أن تُمرر كموقع (positional-only) فقط.</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CHECK YOUR UNDERSTANDING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l"/>
            <a:r>
              <a:rPr sz="2400" b="1">
                <a:solidFill>
                  <a:srgbClr val="1B2540"/>
                </a:solidFill>
                <a:latin typeface="Segoe UI"/>
              </a:rPr>
              <a:t>Which syntax correctly uses type hinting for a function that takes an integer and returns a string?</a:t>
            </a:r>
          </a:p>
        </p:txBody>
      </p:sp>
      <p:sp>
        <p:nvSpPr>
          <p:cNvPr id="6" name="Rounded Rectangle 5"/>
          <p:cNvSpPr/>
          <p:nvPr/>
        </p:nvSpPr>
        <p:spPr>
          <a:xfrm>
            <a:off x="640080"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A.  def func(n: int) -&gt; str:</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B.  def func(n) -&gt; int: str</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C.  def func(n: int, str):</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D.  def func(n: str) -&gt; int:</a:t>
            </a:r>
          </a:p>
        </p:txBody>
      </p:sp>
      <p:sp>
        <p:nvSpPr>
          <p:cNvPr id="10" name="Rectangle 9"/>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2" name="TextBox 11"/>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02920"/>
            <a:ext cx="10545775" cy="274320"/>
          </a:xfrm>
          <a:prstGeom prst="rect">
            <a:avLst/>
          </a:prstGeom>
          <a:noFill/>
        </p:spPr>
        <p:txBody>
          <a:bodyPr wrap="square" anchor="t" lIns="0" rIns="0" tIns="0" bIns="0">
            <a:spAutoFit/>
          </a:bodyPr>
          <a:lstStyle/>
          <a:p>
            <a:pPr algn="l"/>
            <a:r>
              <a:rPr sz="1200" b="1">
                <a:solidFill>
                  <a:srgbClr val="3A5BD9"/>
                </a:solidFill>
                <a:latin typeface="Segoe UI"/>
              </a:rPr>
              <a:t>ANSWER 3</a:t>
            </a:r>
          </a:p>
        </p:txBody>
      </p:sp>
      <p:sp>
        <p:nvSpPr>
          <p:cNvPr id="5" name="TextBox 4"/>
          <p:cNvSpPr txBox="1"/>
          <p:nvPr/>
        </p:nvSpPr>
        <p:spPr>
          <a:xfrm>
            <a:off x="932688" y="777240"/>
            <a:ext cx="10545775" cy="868680"/>
          </a:xfrm>
          <a:prstGeom prst="rect">
            <a:avLst/>
          </a:prstGeom>
          <a:noFill/>
        </p:spPr>
        <p:txBody>
          <a:bodyPr wrap="square" anchor="t" lIns="0" rIns="0" tIns="0" bIns="0">
            <a:spAutoFit/>
          </a:bodyPr>
          <a:lstStyle/>
          <a:p>
            <a:pPr algn="l"/>
            <a:r>
              <a:rPr sz="2400" b="1">
                <a:solidFill>
                  <a:srgbClr val="1B2540"/>
                </a:solidFill>
                <a:latin typeface="Segoe UI"/>
              </a:rPr>
              <a:t>Which syntax correctly uses type hinting for a function that takes an integer and returns a string?</a:t>
            </a:r>
          </a:p>
        </p:txBody>
      </p:sp>
      <p:sp>
        <p:nvSpPr>
          <p:cNvPr id="6" name="Rounded Rectangle 5"/>
          <p:cNvSpPr/>
          <p:nvPr/>
        </p:nvSpPr>
        <p:spPr>
          <a:xfrm>
            <a:off x="640080" y="2057400"/>
            <a:ext cx="5318607" cy="1051560"/>
          </a:xfrm>
          <a:prstGeom prst="roundRect">
            <a:avLst>
              <a:gd name="adj" fmla="val 12000"/>
            </a:avLst>
          </a:prstGeom>
          <a:solidFill>
            <a:srgbClr val="DDF3E7"/>
          </a:solidFill>
          <a:ln w="12700">
            <a:solidFill>
              <a:srgbClr val="1F7A4D"/>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1">
                <a:solidFill>
                  <a:srgbClr val="1F7A4D"/>
                </a:solidFill>
                <a:latin typeface="Segoe UI"/>
              </a:rPr>
              <a:t>A.  def func(n: int) -&gt; str:</a:t>
            </a:r>
          </a:p>
        </p:txBody>
      </p:sp>
      <p:sp>
        <p:nvSpPr>
          <p:cNvPr id="7" name="Rounded Rectangle 6"/>
          <p:cNvSpPr/>
          <p:nvPr/>
        </p:nvSpPr>
        <p:spPr>
          <a:xfrm>
            <a:off x="6233007" y="205740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B.  def func(n) -&gt; int: str</a:t>
            </a:r>
          </a:p>
        </p:txBody>
      </p:sp>
      <p:sp>
        <p:nvSpPr>
          <p:cNvPr id="8" name="Rounded Rectangle 7"/>
          <p:cNvSpPr/>
          <p:nvPr/>
        </p:nvSpPr>
        <p:spPr>
          <a:xfrm>
            <a:off x="640080"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C.  def func(n: int, str):</a:t>
            </a:r>
          </a:p>
        </p:txBody>
      </p:sp>
      <p:sp>
        <p:nvSpPr>
          <p:cNvPr id="9" name="Rounded Rectangle 8"/>
          <p:cNvSpPr/>
          <p:nvPr/>
        </p:nvSpPr>
        <p:spPr>
          <a:xfrm>
            <a:off x="6233007" y="3383280"/>
            <a:ext cx="5318607" cy="1051560"/>
          </a:xfrm>
          <a:prstGeom prst="roundRect">
            <a:avLst>
              <a:gd name="adj" fmla="val 12000"/>
            </a:avLst>
          </a:prstGeom>
          <a:solidFill>
            <a:srgbClr val="FFFFFF"/>
          </a:solidFill>
          <a:ln w="12700">
            <a:solidFill>
              <a:srgbClr val="D5DAE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800" b="0">
                <a:solidFill>
                  <a:srgbClr val="1B2540"/>
                </a:solidFill>
                <a:latin typeface="Segoe UI"/>
              </a:rPr>
              <a:t>D.  def func(n: str) -&gt; int:</a:t>
            </a:r>
          </a:p>
        </p:txBody>
      </p:sp>
      <p:sp>
        <p:nvSpPr>
          <p:cNvPr id="10" name="TextBox 9"/>
          <p:cNvSpPr txBox="1"/>
          <p:nvPr/>
        </p:nvSpPr>
        <p:spPr>
          <a:xfrm>
            <a:off x="640080" y="4892040"/>
            <a:ext cx="10911535" cy="822960"/>
          </a:xfrm>
          <a:prstGeom prst="rect">
            <a:avLst/>
          </a:prstGeom>
          <a:noFill/>
        </p:spPr>
        <p:txBody>
          <a:bodyPr wrap="square" anchor="t" lIns="0" rIns="0" tIns="0" bIns="0">
            <a:spAutoFit/>
          </a:bodyPr>
          <a:lstStyle/>
          <a:p>
            <a:pPr algn="r" rtl="1"/>
            <a:r>
              <a:rPr sz="1600" b="0">
                <a:solidFill>
                  <a:srgbClr val="4A5572"/>
                </a:solidFill>
                <a:latin typeface="Segoe UI"/>
              </a:rPr>
              <a:t>تستخدم تلميحات النوع (Type Hinting) النقطتين الرأسيتين لتحديد نوع المدخلات والسهم (-&gt;) لتحديد نوع القيمة المرجعة.</a:t>
            </a:r>
          </a:p>
        </p:txBody>
      </p:sp>
      <p:sp>
        <p:nvSpPr>
          <p:cNvPr id="11" name="Rectangle 10"/>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3" name="TextBox 12"/>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66928"/>
            <a:ext cx="109728" cy="868680"/>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566928"/>
            <a:ext cx="10545775" cy="868680"/>
          </a:xfrm>
          <a:prstGeom prst="rect">
            <a:avLst/>
          </a:prstGeom>
          <a:noFill/>
        </p:spPr>
        <p:txBody>
          <a:bodyPr wrap="square" anchor="ctr" lIns="0" rIns="0" tIns="0" bIns="0">
            <a:spAutoFit/>
          </a:bodyPr>
          <a:lstStyle/>
          <a:p>
            <a:pPr algn="r" rtl="1"/>
            <a:r>
              <a:rPr sz="3000" b="1">
                <a:solidFill>
                  <a:srgbClr val="1B2540"/>
                </a:solidFill>
                <a:latin typeface="Segoe UI"/>
              </a:rPr>
              <a:t>خلاصة الجلسة</a:t>
            </a:r>
          </a:p>
        </p:txBody>
      </p:sp>
      <p:sp>
        <p:nvSpPr>
          <p:cNvPr id="5" name="Rectangle 4"/>
          <p:cNvSpPr/>
          <p:nvPr/>
        </p:nvSpPr>
        <p:spPr>
          <a:xfrm>
            <a:off x="11405311" y="200253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الدوال المرنة تعتمد على *args و **kwargs</a:t>
            </a:r>
          </a:p>
        </p:txBody>
      </p:sp>
      <p:sp>
        <p:nvSpPr>
          <p:cNvPr id="7" name="Rectangle 6"/>
          <p:cNvSpPr/>
          <p:nvPr/>
        </p:nvSpPr>
        <p:spPr>
          <a:xfrm>
            <a:off x="11405311" y="287121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43200"/>
            <a:ext cx="10545775" cy="868680"/>
          </a:xfrm>
          <a:prstGeom prst="rect">
            <a:avLst/>
          </a:prstGeom>
          <a:noFill/>
        </p:spPr>
        <p:txBody>
          <a:bodyPr wrap="square" anchor="t" lIns="0" rIns="0" tIns="0" bIns="0">
            <a:spAutoFit/>
          </a:bodyPr>
          <a:lstStyle/>
          <a:p>
            <a:pPr algn="r" rtl="1"/>
            <a:r>
              <a:rPr sz="2400" b="0">
                <a:solidFill>
                  <a:srgbClr val="1B2540"/>
                </a:solidFill>
                <a:latin typeface="Segoe UI"/>
              </a:rPr>
              <a:t>فرض القيود يحمي منطق البرمجة</a:t>
            </a:r>
          </a:p>
        </p:txBody>
      </p:sp>
      <p:sp>
        <p:nvSpPr>
          <p:cNvPr id="9" name="Rectangle 8"/>
          <p:cNvSpPr/>
          <p:nvPr/>
        </p:nvSpPr>
        <p:spPr>
          <a:xfrm>
            <a:off x="11405311" y="3739896"/>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7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تلميحات الأنواع ترفع جودة الكود</a:t>
            </a:r>
          </a:p>
        </p:txBody>
      </p:sp>
      <p:sp>
        <p:nvSpPr>
          <p:cNvPr id="11" name="Rectangle 10"/>
          <p:cNvSpPr/>
          <p:nvPr/>
        </p:nvSpPr>
        <p:spPr>
          <a:xfrm>
            <a:off x="11405311" y="4608575"/>
            <a:ext cx="146304" cy="146304"/>
          </a:xfrm>
          <a:prstGeom prst="rect">
            <a:avLst/>
          </a:prstGeom>
          <a:solidFill>
            <a:srgbClr val="3A5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480559"/>
            <a:ext cx="10545775" cy="868680"/>
          </a:xfrm>
          <a:prstGeom prst="rect">
            <a:avLst/>
          </a:prstGeom>
          <a:noFill/>
        </p:spPr>
        <p:txBody>
          <a:bodyPr wrap="square" anchor="t" lIns="0" rIns="0" tIns="0" bIns="0">
            <a:spAutoFit/>
          </a:bodyPr>
          <a:lstStyle/>
          <a:p>
            <a:pPr algn="r" rtl="1"/>
            <a:r>
              <a:rPr sz="2400" b="0">
                <a:solidFill>
                  <a:srgbClr val="1B2540"/>
                </a:solidFill>
                <a:latin typeface="Segoe UI"/>
              </a:rPr>
              <a:t>التصميم النمطي يسهل صيانة المشاريع</a:t>
            </a:r>
          </a:p>
        </p:txBody>
      </p:sp>
      <p:sp>
        <p:nvSpPr>
          <p:cNvPr id="13" name="Rectangle 12"/>
          <p:cNvSpPr/>
          <p:nvPr/>
        </p:nvSpPr>
        <p:spPr>
          <a:xfrm>
            <a:off x="640080" y="6199632"/>
            <a:ext cx="10911535" cy="13716"/>
          </a:xfrm>
          <a:prstGeom prst="rect">
            <a:avLst/>
          </a:prstGeom>
          <a:solidFill>
            <a:srgbClr val="D5D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09360"/>
            <a:ext cx="8229600" cy="320040"/>
          </a:xfrm>
          <a:prstGeom prst="rect">
            <a:avLst/>
          </a:prstGeom>
          <a:noFill/>
        </p:spPr>
        <p:txBody>
          <a:bodyPr wrap="square" anchor="t" lIns="0" rIns="0" tIns="0" bIns="0">
            <a:spAutoFit/>
          </a:bodyPr>
          <a:lstStyle/>
          <a:p>
            <a:pPr algn="l" rtl="1"/>
            <a:r>
              <a:rPr sz="1200" b="0">
                <a:solidFill>
                  <a:srgbClr val="4A5572"/>
                </a:solidFill>
                <a:latin typeface="Segoe UI"/>
              </a:rPr>
              <a:t>مهندسه Maryam Sayed Ahmed</a:t>
            </a:r>
          </a:p>
        </p:txBody>
      </p:sp>
      <p:sp>
        <p:nvSpPr>
          <p:cNvPr id="15" name="TextBox 14"/>
          <p:cNvSpPr txBox="1"/>
          <p:nvPr/>
        </p:nvSpPr>
        <p:spPr>
          <a:xfrm>
            <a:off x="9722815" y="6309360"/>
            <a:ext cx="1828800" cy="320040"/>
          </a:xfrm>
          <a:prstGeom prst="rect">
            <a:avLst/>
          </a:prstGeom>
          <a:noFill/>
        </p:spPr>
        <p:txBody>
          <a:bodyPr wrap="square" anchor="t" lIns="0" rIns="0" tIns="0" bIns="0">
            <a:spAutoFit/>
          </a:bodyPr>
          <a:lstStyle/>
          <a:p>
            <a:pPr algn="r"/>
            <a:r>
              <a:rPr sz="1200" b="0">
                <a:solidFill>
                  <a:srgbClr val="4A5572"/>
                </a:solidFill>
                <a:latin typeface="Segoe U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