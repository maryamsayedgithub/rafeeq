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تعد عملية البناء الضوئي الركيزة الأساسية للحياة على كوكب الأرض. من خلال هذه العملية، تقوم النباتات بتحويل ضوء الشمس إلى طاقة كيميائية مخزنة في الروابط الجزيئية. هذا لا يوفر الغذاء للنبات فحسب، بل يطلق الأكسجين الضروري لتنفس الكائنات الحية الأخرى.</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تتطلب المعادلة الكيميائية ست جزيئات من ثاني أكسيد الكربون وست جزيئات من الماء. بوجود ضوء الشمس، يتم تحويل هذه المواد إلى جزيء جلوكوز واحد وست جزيئات أكسجين. تلعب صبغة الكلوروفيل دور المحفز الأساسي لامتصاص الطاقة الضوئية.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تعتبر البلاستيدات الخضراء المصنع الحقيقي داخل الخلية النباتية. تحدث التفاعلات الضوئية على أغشية الثايلاكويد، بينما تحدث تفاعلات دورة كالفن في الستروما. هذا التقسيم الهيكلي يسمح بتنظيم دقيق لمسارات الطاقة.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تبدأ التفاعلات الضوئية بامتصاص الضوء في الثايلاكويد. يتم شطر الماء لتوفير الإلكترونات اللازمة لسلسلة نقل الإلكترون. النتيجة النهائية هي تخزين الطاقة في جزيئات ATP و NADPH لاستخدامها لاحقاً.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دورة كالفن هي المرحلة التي يتم فيها بناء السكر. تستخدم هذه المرحلة الطاقة التي تم إنتاجها في التفاعلات الضوئية لتثبيت الكربون من الجو. هذه العملية هي التي تحول الكربون غير العضوي إلى مادة عضوية قابلة للاستهلاك.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تتأثر كفاءة البناء الضوئي بعدة عوامل بيئية. الضوء وتركيز ثاني أكسيد الكربون هما المحددان الرئيسيان للسرعة. كما أن الإنزيمات الحيوية تتطلب درجات حرارة معينة لتعمل بأقصى كفاءة ممكنة.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يقوم هذا الكود بحساب نواتج عملية البناء الضوئي بناءً على عدد مولات ثاني أكسيد الكربون والماء. نستخدم دالة بسيطة لتطبيق نسب المعادلة الكيميائية 6CO2 + 6H2O -&gt; C6H12O6 + 6O2. يطبع الكود ناتج إنتاج 1 مول من الجلوكوز و6 مولات من الأكسجين عند توفر 6 مولات من المتفاعلات.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يوضح هذا المثال كيف تؤثر العوامل البيئية مثل شدة الضوء وتركيز ثاني أكسيد الكربون على معدل البناء الضوئي. نستخدم جملة شرطية لتحديد ما إذا كان المعدل سيزداد عند توفر ظروف مثالية. يطبع الكود قيمة المعدل النهائي بناءً على المدخلات المحددة.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لقد استعرضنا اليوم رحلة الطاقة من ضوء الشمس إلى سكر الجلوكوز. تذكروا دائماً أن التفاعلات الضوئية ودورة كالفن تعملان بتناغم تام. فهم هذه العوامل يساعدنا في تحسين الإنتاجية الزراعية وفهم دور النبات في حياتنا.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058400" cy="411480"/>
          </a:xfrm>
          <a:prstGeom prst="rect">
            <a:avLst/>
          </a:prstGeom>
          <a:noFill/>
        </p:spPr>
        <p:txBody>
          <a:bodyPr wrap="square" anchor="t" lIns="0" rIns="0" tIns="0" bIns="0">
            <a:spAutoFit/>
          </a:bodyPr>
          <a:lstStyle/>
          <a:p>
            <a:pPr algn="r" rtl="1"/>
            <a:r>
              <a:rPr sz="1600" b="1">
                <a:solidFill>
                  <a:srgbClr val="B8C1D9"/>
                </a:solidFill>
                <a:latin typeface="Segoe UI"/>
              </a:rPr>
              <a:t>أحياء 101 - د. منى</a:t>
            </a:r>
          </a:p>
        </p:txBody>
      </p:sp>
      <p:sp>
        <p:nvSpPr>
          <p:cNvPr id="6" name="TextBox 5"/>
          <p:cNvSpPr txBox="1"/>
          <p:nvPr/>
        </p:nvSpPr>
        <p:spPr>
          <a:xfrm>
            <a:off x="914400" y="2468880"/>
            <a:ext cx="10332720" cy="2194560"/>
          </a:xfrm>
          <a:prstGeom prst="rect">
            <a:avLst/>
          </a:prstGeom>
          <a:noFill/>
        </p:spPr>
        <p:txBody>
          <a:bodyPr wrap="square" anchor="t" lIns="0" rIns="0" tIns="0" bIns="0">
            <a:spAutoFit/>
          </a:bodyPr>
          <a:lstStyle/>
          <a:p>
            <a:pPr algn="r" rtl="1"/>
            <a:r>
              <a:rPr sz="4800" b="1">
                <a:solidFill>
                  <a:srgbClr val="FFFFFF"/>
                </a:solidFill>
                <a:latin typeface="Segoe UI"/>
              </a:rPr>
              <a:t>البناء الضوئي</a:t>
            </a:r>
          </a:p>
        </p:txBody>
      </p:sp>
      <p:sp>
        <p:nvSpPr>
          <p:cNvPr id="7" name="TextBox 6"/>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دكتوره مريم سيد</a:t>
            </a:r>
          </a:p>
        </p:txBody>
      </p:sp>
      <p:sp>
        <p:nvSpPr>
          <p:cNvPr id="8" name="TextBox 7"/>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9" name="TextBox 8"/>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البناء الضوئي</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تحويل الطاقة الضوئية إلى طاقة كيميائية مخزنة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توفير الغذاء الأساسي لجميع الكائنات الحية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إنتاج غاز الأكسجين كناتج ثانوي حيوي</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دعم التوازن البيئي واستقرار الغلاف الجوي</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المعادلة الكيميائية للتفاعل</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المتفاعلات: ثاني أكسيد الكربون والماء والطاقة الضوئية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النواتج: سكر الجلوكوز وغاز الأكسجين</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تتم العملية بوجود صبغة الكلوروفيل الخضراء</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تحويل المواد غير العضوية إلى مركبات عضوية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الضوء والماء</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تفاعل الكربون</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تكوين الجلوكوز</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إطلاق الأكسجين</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موقع حدوث البناء الضوئي</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تحدث العملية داخل عضيات البلاستيدات الخضراء</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تتكون البلاستيدة من أغشية ثايلاكويد متراصة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يملأ السائل المحيط بالثايلاكويد مادة الستروما</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توزيع الكلوروفيل داخل أغشية الثايلاكويد</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الخلية النباتية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البلاستيدة الخضراء</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غشاء الثايلاكويد</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موقع التفاعل</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مراحل التفاعلات الضوئية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امتصاص الفوتونات بواسطة صبغات الكلوروفيل</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شطر جزيئات الماء لتعويض الإلكترونات المفقودة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توليد جزيئات الطاقة ATP و NADPH</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انطلاق الأكسجين كناتج ثانوي للعملية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الضوء</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شطر الماء</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نقل الإلكترونات</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تخزين الطاقة</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دورة كالفن وتثبيت الكربون</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تحدث في الستروما ولا تتطلب ضوءاً مباشراً</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ATP و NADPH لتثبيت الكربون</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تحويل ثاني أكسيد الكربون إلى سكر الجلوكوز</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إعادة تدوير الجزيئات لاستمرار الدورة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تثبيت الكربون</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اختزال الجزيئات</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تكوين السكر</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تجديد المستقبل</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العوامل المؤثرة على البناء الضوئي</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شدة الضوء تؤثر على سرعة التفاعلات</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تركيز ثاني أكسيد الكربون يحدد معدل التثبيت</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درجة الحرارة المثالية لنشاط الإنزيمات</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توفر الماء كعامل أساسي للتفاعل</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تغير الضوء</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تغير الحرارة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تغير CO2</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تغير المعدل</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تمثيل المعادلة الكيميائية للبناء الضوئي</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calculate_photosynthesis_products(co2_moles, h2o_moles):</a:t>
            </a:r>
          </a:p>
          <a:p>
            <a:pPr algn="l"/>
            <a:r>
              <a:rPr sz="1600" b="0">
                <a:solidFill>
                  <a:srgbClr val="E6EAF5"/>
                </a:solidFill>
                <a:latin typeface="Consolas"/>
              </a:rPr>
              <a:t>    if co2_moles == h2o_moles:</a:t>
            </a:r>
          </a:p>
          <a:p>
            <a:pPr algn="l"/>
            <a:r>
              <a:rPr sz="1600" b="0">
                <a:solidFill>
                  <a:srgbClr val="E6EAF5"/>
                </a:solidFill>
                <a:latin typeface="Consolas"/>
              </a:rPr>
              <a:t>        glucose = co2_moles / 6</a:t>
            </a:r>
          </a:p>
          <a:p>
            <a:pPr algn="l"/>
            <a:r>
              <a:rPr sz="1600" b="0">
                <a:solidFill>
                  <a:srgbClr val="E6EAF5"/>
                </a:solidFill>
                <a:latin typeface="Consolas"/>
              </a:rPr>
              <a:t>        oxygen = co2_moles</a:t>
            </a:r>
          </a:p>
          <a:p>
            <a:pPr algn="l"/>
            <a:r>
              <a:rPr sz="1600" b="0">
                <a:solidFill>
                  <a:srgbClr val="E6EAF5"/>
                </a:solidFill>
                <a:latin typeface="Consolas"/>
              </a:rPr>
              <a:t>        return glucose, oxygen</a:t>
            </a:r>
          </a:p>
          <a:p>
            <a:pPr algn="l"/>
            <a:r>
              <a:rPr sz="1600" b="0">
                <a:solidFill>
                  <a:srgbClr val="E6EAF5"/>
                </a:solidFill>
                <a:latin typeface="Consolas"/>
              </a:rPr>
              <a:t>    return 0, 0</a:t>
            </a:r>
          </a:p>
          <a:p>
            <a:pPr algn="l"/>
            <a:r>
              <a:rPr sz="1600" b="0">
                <a:solidFill>
                  <a:srgbClr val="E6EAF5"/>
                </a:solidFill>
                <a:latin typeface="Consolas"/>
              </a:rPr>
              <a:t/>
            </a:r>
          </a:p>
          <a:p>
            <a:pPr algn="l"/>
            <a:r>
              <a:rPr sz="1600" b="0">
                <a:solidFill>
                  <a:srgbClr val="E6EAF5"/>
                </a:solidFill>
                <a:latin typeface="Consolas"/>
              </a:rPr>
              <a:t>glucose, oxygen = calculate_photosynthesis_products(6, 6)</a:t>
            </a:r>
          </a:p>
          <a:p>
            <a:pPr algn="l"/>
            <a:r>
              <a:rPr sz="1600" b="0">
                <a:solidFill>
                  <a:srgbClr val="E6EAF5"/>
                </a:solidFill>
                <a:latin typeface="Consolas"/>
              </a:rPr>
              <a:t>print(f'Glucose produced: {glucose} mole')</a:t>
            </a:r>
          </a:p>
          <a:p>
            <a:pPr algn="l"/>
            <a:r>
              <a:rPr sz="1600" b="0">
                <a:solidFill>
                  <a:srgbClr val="E6EAF5"/>
                </a:solidFill>
                <a:latin typeface="Consolas"/>
              </a:rPr>
              <a:t>print(f'Oxygen produced: {oxygen} moles')</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Glucose produced: 1.0 mole</a:t>
            </a:r>
          </a:p>
          <a:p>
            <a:pPr algn="l"/>
            <a:r>
              <a:rPr sz="1300" b="0">
                <a:solidFill>
                  <a:srgbClr val="1B2540"/>
                </a:solidFill>
                <a:latin typeface="Consolas"/>
              </a:rPr>
              <a:t>Oxygen produced: 6 moles</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محاكاة العوامل المؤثرة على معدل البناء الضوئي</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estimate_photosynthesis_rate(light_intensity, co2_level):</a:t>
            </a:r>
          </a:p>
          <a:p>
            <a:pPr algn="l"/>
            <a:r>
              <a:rPr sz="1600" b="0">
                <a:solidFill>
                  <a:srgbClr val="E6EAF5"/>
                </a:solidFill>
                <a:latin typeface="Consolas"/>
              </a:rPr>
              <a:t>    base_rate = 10</a:t>
            </a:r>
          </a:p>
          <a:p>
            <a:pPr algn="l"/>
            <a:r>
              <a:rPr sz="1600" b="0">
                <a:solidFill>
                  <a:srgbClr val="E6EAF5"/>
                </a:solidFill>
                <a:latin typeface="Consolas"/>
              </a:rPr>
              <a:t>    if light_intensity &gt; 5 and co2_level &gt; 5:</a:t>
            </a:r>
          </a:p>
          <a:p>
            <a:pPr algn="l"/>
            <a:r>
              <a:rPr sz="1600" b="0">
                <a:solidFill>
                  <a:srgbClr val="E6EAF5"/>
                </a:solidFill>
                <a:latin typeface="Consolas"/>
              </a:rPr>
              <a:t>        return base_rate * 2</a:t>
            </a:r>
          </a:p>
          <a:p>
            <a:pPr algn="l"/>
            <a:r>
              <a:rPr sz="1600" b="0">
                <a:solidFill>
                  <a:srgbClr val="E6EAF5"/>
                </a:solidFill>
                <a:latin typeface="Consolas"/>
              </a:rPr>
              <a:t>    return base_rate</a:t>
            </a:r>
          </a:p>
          <a:p>
            <a:pPr algn="l"/>
            <a:r>
              <a:rPr sz="1600" b="0">
                <a:solidFill>
                  <a:srgbClr val="E6EAF5"/>
                </a:solidFill>
                <a:latin typeface="Consolas"/>
              </a:rPr>
              <a:t/>
            </a:r>
          </a:p>
          <a:p>
            <a:pPr algn="l"/>
            <a:r>
              <a:rPr sz="1600" b="0">
                <a:solidFill>
                  <a:srgbClr val="E6EAF5"/>
                </a:solidFill>
                <a:latin typeface="Consolas"/>
              </a:rPr>
              <a:t>intensity = 8</a:t>
            </a:r>
          </a:p>
          <a:p>
            <a:pPr algn="l"/>
            <a:r>
              <a:rPr sz="1600" b="0">
                <a:solidFill>
                  <a:srgbClr val="E6EAF5"/>
                </a:solidFill>
                <a:latin typeface="Consolas"/>
              </a:rPr>
              <a:t>co2 = 7</a:t>
            </a:r>
          </a:p>
          <a:p>
            <a:pPr algn="l"/>
            <a:r>
              <a:rPr sz="1600" b="0">
                <a:solidFill>
                  <a:srgbClr val="E6EAF5"/>
                </a:solidFill>
                <a:latin typeface="Consolas"/>
              </a:rPr>
              <a:t>rate = estimate_photosynthesis_rate(intensity, co2)</a:t>
            </a:r>
          </a:p>
          <a:p>
            <a:pPr algn="l"/>
            <a:r>
              <a:rPr sz="1600" b="0">
                <a:solidFill>
                  <a:srgbClr val="E6EAF5"/>
                </a:solidFill>
                <a:latin typeface="Consolas"/>
              </a:rPr>
              <a:t>print(f'Photosynthesis rate is: {rate} units per hour')</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Photosynthesis rate is: 20 units per hour</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الناتج الثانوي الرئيسي لعملية البناء الضوئي الذي ينطلق إلى الغلاف الجوي؟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غاز ثاني أكسيد الكربون</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غاز الأكسجين</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جزيئات الجلوكوز</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مركبات ATP</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الناتج الثانوي الرئيسي لعملية البناء الضوئي الذي ينطلق إلى الغلاف الجوي؟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غاز ثاني أكسيد الكربون</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غاز الأكسجين</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جزيئات الجلوكوز</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مركبات ATP</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ينتج غاز الأكسجين كناتج ثانوي عند انشطار جزيئات الماء خلال التفاعلات الضوئية.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في أي جزء من الخلية النباتية تحدث تفاعلات دورة كالفن؟</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داخل غشاء الثايلاكويد</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في السيتوبلازم</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في حشوة البلاستيدة الخضراء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على الغشاء الخارجي للبلاستيدة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في أي جزء من الخلية النباتية تحدث تفاعلات دورة كالفن؟</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داخل غشاء الثايلاكويد</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في السيتوبلازم</a:t>
            </a:r>
          </a:p>
        </p:txBody>
      </p:sp>
      <p:sp>
        <p:nvSpPr>
          <p:cNvPr id="8" name="Rounded Rectangle 7"/>
          <p:cNvSpPr/>
          <p:nvPr/>
        </p:nvSpPr>
        <p:spPr>
          <a:xfrm>
            <a:off x="640080" y="338328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C.  في حشوة البلاستيدة الخضراء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على الغشاء الخارجي للبلاستيدة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تحدث دورة كالفن في الـ stroma أو الحشوة، حيث تتوفر الإنزيمات اللازمة لتثبيت الكربون.</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المادة التي تمتص الطاقة الضوئية في البلاستيدات الخضراء؟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صبغة الكلوروفيل</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إنزيم روبيسكو</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جزيئات الماء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حمض البيروفيك</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المادة التي تمتص الطاقة الضوئية في البلاستيدات الخضراء؟</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A.  صبغة الكلوروفيل</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إنزيم روبيسكو</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جزيئات الماء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حمض البيروفيك</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تعمل صبغة الكلوروفيل على امتصاص الطاقة الضوئية اللازمة لتحفيز التفاعلات الكيميائية.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ملخص ومراجعة المفاهيم</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البناء الضوئي يحول الضوء إلى طاقة كيميائية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التفاعلات الضوئية ودورة كالفن مترابطتان</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الكلوروفيل هو المحرك الأساسي لامتصاص الطاقة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العوامل البيئية تضبط كفاءة الإنتاج النباتي</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