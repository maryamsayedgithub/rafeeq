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في هذه الجلسة، نستكشف كيف تحصل النباتات على احتياجاتها الغذائية. سنقارن بين الكائنات ذاتية التغذية التي تحول الطاقة الضوئية إلى كيميائية، والكائنات غير الذاتية. فهم هذا الفرق هو حجر الأساس لفهم فسيولوجيا النبات.</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تعتمد عملية الامتصاص على تدرج التركيز بين التربة والجذر. تستخدم النباتات الطاقة لنقل الأيونات عكس تدرج التركيز، مما يسهل دخول الماء. هذه العملية الحيوية تضمن وصول المكونات الأساسية إلى أجزاء النبات العليا.</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تعد الشعيرات الجذرية امتدادات دقيقة تزيد من كفاءة الامتصاص. تعمل الخاصية الأسموزية كقوة دافعة أساسية لنقل الماء من التربة إلى داخل خلايا الجذر. هذا التوازن المائي ضروري لاستمرار العمليات الحيوية داخل النبات.</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بعد امتصاص الماء والأملاح، تبدأ عملية البناء الضوئي في الأوراق. يتم تحويل المواد الخام البسيطة إلى سكريات غنية بالطاقة. هذه العملية هي المصدر الرئيسي للمادة العضوية في النظام البيئي.</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لا يعمل النبات بمفرده، بل يشكل علاقات تكافلية مع الفطريات. تزيد هذه الفطريات من كفاءة امتصاص العناصر النادرة مثل الفسفور. هذا التعاون يعزز من قدرة النبات على البقاء في بيئات فقيرة بالمغذيات.</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تؤثر البيئة المحيطة بشكل مباشر على كفاءة التغذية. التربة ليست مجرد وسط تثبيت، بل هي بيئة كيميائية معقدة. يجب مراعاة هذه العوامل لضمان نمو نباتي صحي ومستدام.</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يوضح هذا الكود كيف تنتقل المياه من التربة إلى الجذور بناءً على تركيز الأملاح. نستخدم دالة تقارن بين تركيز الأملاح في التربة والجذر لتحديد اتجاه حركة الماء. إذا كان تركيز الجذر أعلى، ينتقل الماء للداخل. يطبع الكود النتيجة وهي Water moves into the root.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يستخدم هذا المثال البرمجة الكائنية لتمثيل عملية البناء الضوئي. نتحقق من توفر ضوء الشمس والماء وثاني أكسيد الكربون لإنتاج الجلوكوز. عند توفر الموارد، تزداد قيمة الجلوكوز في كائن النبات. يطبع الكود Plant Fern produced glucose: 10 units.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minute to answer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minute to answer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minute to answer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لقد راجعنا اليوم مسار الغذاء من التربة إلى الأوراق. تعلمنا كيف تساهم الجذور، الفطريات، والعمليات الكيميائية في بناء كتلة النبات. تذكروا أن فهم هذه الآليات هو مفتاح النجاح في الزراعة والبحث العلمي.</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2148840"/>
            <a:ext cx="1005840" cy="82296"/>
          </a:xfrm>
          <a:prstGeom prst="rect">
            <a:avLst/>
          </a:prstGeom>
          <a:solidFill>
            <a:srgbClr val="FFE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10058400" cy="411480"/>
          </a:xfrm>
          <a:prstGeom prst="rect">
            <a:avLst/>
          </a:prstGeom>
          <a:noFill/>
        </p:spPr>
        <p:txBody>
          <a:bodyPr wrap="square" anchor="t" lIns="0" rIns="0" tIns="0" bIns="0">
            <a:spAutoFit/>
          </a:bodyPr>
          <a:lstStyle/>
          <a:p>
            <a:pPr algn="r" rtl="1"/>
            <a:r>
              <a:rPr sz="1600" b="1">
                <a:solidFill>
                  <a:srgbClr val="B8C1D9"/>
                </a:solidFill>
                <a:latin typeface="Segoe UI"/>
              </a:rPr>
              <a:t>أحياء 101 - د. منى</a:t>
            </a:r>
          </a:p>
        </p:txBody>
      </p:sp>
      <p:sp>
        <p:nvSpPr>
          <p:cNvPr id="6" name="TextBox 5"/>
          <p:cNvSpPr txBox="1"/>
          <p:nvPr/>
        </p:nvSpPr>
        <p:spPr>
          <a:xfrm>
            <a:off x="914400" y="2468880"/>
            <a:ext cx="10332720" cy="2194560"/>
          </a:xfrm>
          <a:prstGeom prst="rect">
            <a:avLst/>
          </a:prstGeom>
          <a:noFill/>
        </p:spPr>
        <p:txBody>
          <a:bodyPr wrap="square" anchor="t" lIns="0" rIns="0" tIns="0" bIns="0">
            <a:spAutoFit/>
          </a:bodyPr>
          <a:lstStyle/>
          <a:p>
            <a:pPr algn="r" rtl="1"/>
            <a:r>
              <a:rPr sz="4800" b="1">
                <a:solidFill>
                  <a:srgbClr val="FFFFFF"/>
                </a:solidFill>
                <a:latin typeface="Segoe UI"/>
              </a:rPr>
              <a:t>امتصاص النبات للغذاء</a:t>
            </a:r>
          </a:p>
        </p:txBody>
      </p:sp>
      <p:sp>
        <p:nvSpPr>
          <p:cNvPr id="7" name="TextBox 6"/>
          <p:cNvSpPr txBox="1"/>
          <p:nvPr/>
        </p:nvSpPr>
        <p:spPr>
          <a:xfrm>
            <a:off x="914400" y="4892040"/>
            <a:ext cx="10058400" cy="457200"/>
          </a:xfrm>
          <a:prstGeom prst="rect">
            <a:avLst/>
          </a:prstGeom>
          <a:noFill/>
        </p:spPr>
        <p:txBody>
          <a:bodyPr wrap="square" anchor="t" lIns="0" rIns="0" tIns="0" bIns="0">
            <a:spAutoFit/>
          </a:bodyPr>
          <a:lstStyle/>
          <a:p>
            <a:pPr algn="r" rtl="1"/>
            <a:r>
              <a:rPr sz="2200" b="0">
                <a:solidFill>
                  <a:srgbClr val="FFFFFF"/>
                </a:solidFill>
                <a:latin typeface="Segoe UI"/>
              </a:rPr>
              <a:t>دكتوره مريم سيد</a:t>
            </a:r>
          </a:p>
        </p:txBody>
      </p:sp>
      <p:sp>
        <p:nvSpPr>
          <p:cNvPr id="8" name="TextBox 7"/>
          <p:cNvSpPr txBox="1"/>
          <p:nvPr/>
        </p:nvSpPr>
        <p:spPr>
          <a:xfrm>
            <a:off x="640080" y="6309360"/>
            <a:ext cx="8229600" cy="320040"/>
          </a:xfrm>
          <a:prstGeom prst="rect">
            <a:avLst/>
          </a:prstGeom>
          <a:noFill/>
        </p:spPr>
        <p:txBody>
          <a:bodyPr wrap="square" anchor="t" lIns="0" rIns="0" tIns="0" bIns="0">
            <a:spAutoFit/>
          </a:bodyPr>
          <a:lstStyle/>
          <a:p>
            <a:pPr algn="l"/>
            <a:r>
              <a:rPr sz="1200" b="0">
                <a:solidFill>
                  <a:srgbClr val="B8C1D9"/>
                </a:solidFill>
                <a:latin typeface="Segoe UI"/>
              </a:rPr>
              <a:t/>
            </a:r>
          </a:p>
        </p:txBody>
      </p:sp>
      <p:sp>
        <p:nvSpPr>
          <p:cNvPr id="9" name="TextBox 8"/>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B8C1D9"/>
                </a:solidFill>
                <a:latin typeface="Segoe UI"/>
              </a:rPr>
              <a:t>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مقدمة في تغذية النبات</a:t>
            </a:r>
          </a:p>
        </p:txBody>
      </p:sp>
      <p:sp>
        <p:nvSpPr>
          <p:cNvPr id="5" name="Rectangle 4"/>
          <p:cNvSpPr/>
          <p:nvPr/>
        </p:nvSpPr>
        <p:spPr>
          <a:xfrm>
            <a:off x="11405311"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النباتات كائنات ذاتية التغذية تصنع غذاءها بنفسها</a:t>
            </a:r>
          </a:p>
        </p:txBody>
      </p:sp>
      <p:sp>
        <p:nvSpPr>
          <p:cNvPr id="7" name="Rectangle 6"/>
          <p:cNvSpPr/>
          <p:nvPr/>
        </p:nvSpPr>
        <p:spPr>
          <a:xfrm>
            <a:off x="11405311"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تعتمد الكائنات غير الذاتية على مصادر خارجية للطاقة</a:t>
            </a:r>
          </a:p>
        </p:txBody>
      </p:sp>
      <p:sp>
        <p:nvSpPr>
          <p:cNvPr id="9" name="Rectangle 8"/>
          <p:cNvSpPr/>
          <p:nvPr/>
        </p:nvSpPr>
        <p:spPr>
          <a:xfrm>
            <a:off x="11405311"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التمثيل الضوئي هو المحرك الأساسي لإنتاج المركبات العضوية</a:t>
            </a:r>
          </a:p>
        </p:txBody>
      </p:sp>
      <p:sp>
        <p:nvSpPr>
          <p:cNvPr id="11" name="Rectangle 10"/>
          <p:cNvSpPr/>
          <p:nvPr/>
        </p:nvSpPr>
        <p:spPr>
          <a:xfrm>
            <a:off x="11405311"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تتطلب النباتات عناصر معدنية أساسية من التربة للنمو</a:t>
            </a:r>
          </a:p>
        </p:txBody>
      </p:sp>
      <p:sp>
        <p:nvSpPr>
          <p:cNvPr id="13" name="Rectangle 12"/>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15" name="TextBox 14"/>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امتصاص الماء والأملاح</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الجذور هي العضو المسؤول عن امتصاص الموارد</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تنتقل الأملاح عبر النقل النشط والانتشار</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الماء يتبع الأملاح المعدنية داخل أنسجة الجذر</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تنتقل المحاليل عبر نسيج الخشب إلى الأوراق</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امتصاص أيونات الأملاح</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زيادة تركيز المحلول</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دخول الماء أسموزياً</a:t>
            </a:r>
          </a:p>
        </p:txBody>
      </p:sp>
      <p:sp>
        <p:nvSpPr>
          <p:cNvPr id="18" name="Down Arrow 17"/>
          <p:cNvSpPr/>
          <p:nvPr/>
        </p:nvSpPr>
        <p:spPr>
          <a:xfrm>
            <a:off x="9377839" y="4745736"/>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983479"/>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صعود الماء للخشب</a:t>
            </a:r>
          </a:p>
        </p:txBody>
      </p:sp>
      <p:sp>
        <p:nvSpPr>
          <p:cNvPr id="20" name="Rectangle 1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22" name="TextBox 2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دور الشعيرات الجذرية والأسموزية</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الشعيرات الجذرية تزيد مساحة سطح الامتصاص بشكل هائل</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الخاصية الأسموزية تحرك الماء عبر الأغشية شبه المنفذة</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الضغط الجذري يساعد في دفع الماء للأعلى</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تتأثر كفاءة الامتصاص بتركيز المحلول في التربة</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زيادة مساحة السطح</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تدرج تركيز الأملاح</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انتقال الماء أسموزياً</a:t>
            </a:r>
          </a:p>
        </p:txBody>
      </p:sp>
      <p:sp>
        <p:nvSpPr>
          <p:cNvPr id="18" name="Down Arrow 17"/>
          <p:cNvSpPr/>
          <p:nvPr/>
        </p:nvSpPr>
        <p:spPr>
          <a:xfrm>
            <a:off x="9377839" y="4745736"/>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983479"/>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توازن الضغط الجذري</a:t>
            </a:r>
          </a:p>
        </p:txBody>
      </p:sp>
      <p:sp>
        <p:nvSpPr>
          <p:cNvPr id="20" name="Rectangle 1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22" name="TextBox 2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تحويل المواد إلى غذاء</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البناء الضوئي يحول الماء وثاني أكسيد الكربون لجلوكوز</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تستخدم الطاقة الضوئية لكسر الروابط الكيميائية</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يتم تخزين الطاقة في روابط السكر المعقدة</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الأكسجين هو ناتج ثانوي حيوي لهذه العملية</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امتصاص الضوء والماء</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تثبيت ثاني أكسيد الكربون</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إنتاج جزيئات الجلوكوز</a:t>
            </a:r>
          </a:p>
        </p:txBody>
      </p:sp>
      <p:sp>
        <p:nvSpPr>
          <p:cNvPr id="18" name="Down Arrow 17"/>
          <p:cNvSpPr/>
          <p:nvPr/>
        </p:nvSpPr>
        <p:spPr>
          <a:xfrm>
            <a:off x="9377839" y="4745736"/>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983479"/>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إطلاق غاز الأكسجين</a:t>
            </a:r>
          </a:p>
        </p:txBody>
      </p:sp>
      <p:sp>
        <p:nvSpPr>
          <p:cNvPr id="20" name="Rectangle 1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22" name="TextBox 2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العلاقات التكافلية والفطريات</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الفطريات الجذرية Mycorrhizae تعزز امتصاص الفسفور</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تبادل المنفعة بين الفطر وجذور النبات</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الفطر يحصل على السكريات مقابل المعادن</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تحسين مقاومة النبات للإجهاد البيئي</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تغلغل خيوط الفطر</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امتصاص معادن التربة</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نقل المعادن للنبات</a:t>
            </a:r>
          </a:p>
        </p:txBody>
      </p:sp>
      <p:sp>
        <p:nvSpPr>
          <p:cNvPr id="18" name="Down Arrow 17"/>
          <p:cNvSpPr/>
          <p:nvPr/>
        </p:nvSpPr>
        <p:spPr>
          <a:xfrm>
            <a:off x="9377839" y="4745736"/>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983479"/>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تزويد الفطر بالسكريات</a:t>
            </a:r>
          </a:p>
        </p:txBody>
      </p:sp>
      <p:sp>
        <p:nvSpPr>
          <p:cNvPr id="20" name="Rectangle 1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22" name="TextBox 2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تأثير العوامل البيئية</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درجة حموضة التربة pH تؤثر على ذوبان المعادن</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درجة الحرارة تتحكم في معدلات النتح والامتصاص</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نقص الأكسجين في التربة يعيق النقل النشط</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تراكم الأملاح يسبب إجهاداً ملحياً للنبات</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تغير ظروف التربة</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تأثر نشاط الجذور</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انخفاض كفاءة الامتصاص</a:t>
            </a:r>
          </a:p>
        </p:txBody>
      </p:sp>
      <p:sp>
        <p:nvSpPr>
          <p:cNvPr id="18" name="Down Arrow 17"/>
          <p:cNvSpPr/>
          <p:nvPr/>
        </p:nvSpPr>
        <p:spPr>
          <a:xfrm>
            <a:off x="9377839" y="4745736"/>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983479"/>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تأثر نمو النبات</a:t>
            </a:r>
          </a:p>
        </p:txBody>
      </p:sp>
      <p:sp>
        <p:nvSpPr>
          <p:cNvPr id="20" name="Rectangle 1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22" name="TextBox 2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CODE EXAMPLE</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3000" b="1">
                <a:solidFill>
                  <a:srgbClr val="1B2540"/>
                </a:solidFill>
                <a:latin typeface="Segoe UI"/>
              </a:rPr>
              <a:t>محاكاة الخاصية الأسموزية في امتصاص الماء</a:t>
            </a:r>
          </a:p>
        </p:txBody>
      </p:sp>
      <p:sp>
        <p:nvSpPr>
          <p:cNvPr id="6" name="Rounded Rectangle 5"/>
          <p:cNvSpPr/>
          <p:nvPr/>
        </p:nvSpPr>
        <p:spPr>
          <a:xfrm>
            <a:off x="640080" y="1828800"/>
            <a:ext cx="6983382" cy="4160520"/>
          </a:xfrm>
          <a:prstGeom prst="roundRect">
            <a:avLst>
              <a:gd name="adj" fmla="val 3000"/>
            </a:avLst>
          </a:prstGeom>
          <a:solidFill>
            <a:srgbClr val="121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11680"/>
            <a:ext cx="6526182" cy="3794759"/>
          </a:xfrm>
          <a:prstGeom prst="rect">
            <a:avLst/>
          </a:prstGeom>
          <a:noFill/>
        </p:spPr>
        <p:txBody>
          <a:bodyPr wrap="square">
            <a:spAutoFit/>
          </a:bodyPr>
          <a:lstStyle/>
          <a:p>
            <a:pPr algn="l"/>
            <a:r>
              <a:rPr sz="1600" b="0">
                <a:solidFill>
                  <a:srgbClr val="E6EAF5"/>
                </a:solidFill>
                <a:latin typeface="Consolas"/>
              </a:rPr>
              <a:t>def simulate_osmosis(soil_concentration, root_concentration):</a:t>
            </a:r>
          </a:p>
          <a:p>
            <a:pPr algn="l"/>
            <a:r>
              <a:rPr sz="1600" b="0">
                <a:solidFill>
                  <a:srgbClr val="E6EAF5"/>
                </a:solidFill>
                <a:latin typeface="Consolas"/>
              </a:rPr>
              <a:t>    if root_concentration &gt; soil_concentration:</a:t>
            </a:r>
          </a:p>
          <a:p>
            <a:pPr algn="l"/>
            <a:r>
              <a:rPr sz="1600" b="0">
                <a:solidFill>
                  <a:srgbClr val="E6EAF5"/>
                </a:solidFill>
                <a:latin typeface="Consolas"/>
              </a:rPr>
              <a:t>        return "Water moves into the root"</a:t>
            </a:r>
          </a:p>
          <a:p>
            <a:pPr algn="l"/>
            <a:r>
              <a:rPr sz="1600" b="0">
                <a:solidFill>
                  <a:srgbClr val="E6EAF5"/>
                </a:solidFill>
                <a:latin typeface="Consolas"/>
              </a:rPr>
              <a:t>    else:</a:t>
            </a:r>
          </a:p>
          <a:p>
            <a:pPr algn="l"/>
            <a:r>
              <a:rPr sz="1600" b="0">
                <a:solidFill>
                  <a:srgbClr val="E6EAF5"/>
                </a:solidFill>
                <a:latin typeface="Consolas"/>
              </a:rPr>
              <a:t>        return "No water absorption"</a:t>
            </a:r>
          </a:p>
          <a:p>
            <a:pPr algn="l"/>
            <a:r>
              <a:rPr sz="1600" b="0">
                <a:solidFill>
                  <a:srgbClr val="E6EAF5"/>
                </a:solidFill>
                <a:latin typeface="Consolas"/>
              </a:rPr>
              <a:t/>
            </a:r>
          </a:p>
          <a:p>
            <a:pPr algn="l"/>
            <a:r>
              <a:rPr sz="1600" b="0">
                <a:solidFill>
                  <a:srgbClr val="E6EAF5"/>
                </a:solidFill>
                <a:latin typeface="Consolas"/>
              </a:rPr>
              <a:t>soil_salt = 5</a:t>
            </a:r>
          </a:p>
          <a:p>
            <a:pPr algn="l"/>
            <a:r>
              <a:rPr sz="1600" b="0">
                <a:solidFill>
                  <a:srgbClr val="E6EAF5"/>
                </a:solidFill>
                <a:latin typeface="Consolas"/>
              </a:rPr>
              <a:t>root_salt = 15</a:t>
            </a:r>
          </a:p>
          <a:p>
            <a:pPr algn="l"/>
            <a:r>
              <a:rPr sz="1600" b="0">
                <a:solidFill>
                  <a:srgbClr val="E6EAF5"/>
                </a:solidFill>
                <a:latin typeface="Consolas"/>
              </a:rPr>
              <a:t>result = simulate_osmosis(soil_salt, root_salt)</a:t>
            </a:r>
          </a:p>
          <a:p>
            <a:pPr algn="l"/>
            <a:r>
              <a:rPr sz="1600" b="0">
                <a:solidFill>
                  <a:srgbClr val="E6EAF5"/>
                </a:solidFill>
                <a:latin typeface="Consolas"/>
              </a:rPr>
              <a:t>print(f"Result: {result}")</a:t>
            </a:r>
          </a:p>
        </p:txBody>
      </p:sp>
      <p:sp>
        <p:nvSpPr>
          <p:cNvPr id="8" name="Rounded Rectangle 7"/>
          <p:cNvSpPr/>
          <p:nvPr/>
        </p:nvSpPr>
        <p:spPr>
          <a:xfrm>
            <a:off x="7897782" y="1828800"/>
            <a:ext cx="3653832" cy="4160520"/>
          </a:xfrm>
          <a:prstGeom prst="roundRect">
            <a:avLst>
              <a:gd name="adj" fmla="val 3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26382" y="2011680"/>
            <a:ext cx="3196632" cy="274320"/>
          </a:xfrm>
          <a:prstGeom prst="rect">
            <a:avLst/>
          </a:prstGeom>
          <a:noFill/>
        </p:spPr>
        <p:txBody>
          <a:bodyPr wrap="square" anchor="t" lIns="0" rIns="0" tIns="0" bIns="0">
            <a:spAutoFit/>
          </a:bodyPr>
          <a:lstStyle/>
          <a:p>
            <a:pPr algn="l"/>
            <a:r>
              <a:rPr sz="1200" b="1">
                <a:solidFill>
                  <a:srgbClr val="1F7A4D"/>
                </a:solidFill>
                <a:latin typeface="Segoe UI"/>
              </a:rPr>
              <a:t>OUTPUT</a:t>
            </a:r>
          </a:p>
        </p:txBody>
      </p:sp>
      <p:sp>
        <p:nvSpPr>
          <p:cNvPr id="10" name="TextBox 9"/>
          <p:cNvSpPr txBox="1"/>
          <p:nvPr/>
        </p:nvSpPr>
        <p:spPr>
          <a:xfrm>
            <a:off x="8126382" y="2377440"/>
            <a:ext cx="3196632" cy="3429000"/>
          </a:xfrm>
          <a:prstGeom prst="rect">
            <a:avLst/>
          </a:prstGeom>
          <a:noFill/>
        </p:spPr>
        <p:txBody>
          <a:bodyPr wrap="square">
            <a:spAutoFit/>
          </a:bodyPr>
          <a:lstStyle/>
          <a:p>
            <a:pPr algn="l"/>
            <a:r>
              <a:rPr sz="1300" b="0">
                <a:solidFill>
                  <a:srgbClr val="1B2540"/>
                </a:solidFill>
                <a:latin typeface="Consolas"/>
              </a:rPr>
              <a:t>Result: Water moves into the root</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CODE EXAMPLE</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3000" b="1">
                <a:solidFill>
                  <a:srgbClr val="1B2540"/>
                </a:solidFill>
                <a:latin typeface="Segoe UI"/>
              </a:rPr>
              <a:t>نمذجة عملية البناء الضوئي</a:t>
            </a:r>
          </a:p>
        </p:txBody>
      </p:sp>
      <p:sp>
        <p:nvSpPr>
          <p:cNvPr id="6" name="Rounded Rectangle 5"/>
          <p:cNvSpPr/>
          <p:nvPr/>
        </p:nvSpPr>
        <p:spPr>
          <a:xfrm>
            <a:off x="640080" y="1828800"/>
            <a:ext cx="6983382" cy="4160520"/>
          </a:xfrm>
          <a:prstGeom prst="roundRect">
            <a:avLst>
              <a:gd name="adj" fmla="val 3000"/>
            </a:avLst>
          </a:prstGeom>
          <a:solidFill>
            <a:srgbClr val="121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11680"/>
            <a:ext cx="6526182" cy="3794759"/>
          </a:xfrm>
          <a:prstGeom prst="rect">
            <a:avLst/>
          </a:prstGeom>
          <a:noFill/>
        </p:spPr>
        <p:txBody>
          <a:bodyPr wrap="square">
            <a:spAutoFit/>
          </a:bodyPr>
          <a:lstStyle/>
          <a:p>
            <a:pPr algn="l"/>
            <a:r>
              <a:rPr sz="1600" b="0">
                <a:solidFill>
                  <a:srgbClr val="E6EAF5"/>
                </a:solidFill>
                <a:latin typeface="Consolas"/>
              </a:rPr>
              <a:t>class Plant:</a:t>
            </a:r>
          </a:p>
          <a:p>
            <a:pPr algn="l"/>
            <a:r>
              <a:rPr sz="1600" b="0">
                <a:solidFill>
                  <a:srgbClr val="E6EAF5"/>
                </a:solidFill>
                <a:latin typeface="Consolas"/>
              </a:rPr>
              <a:t>    def __init__(self, name):</a:t>
            </a:r>
          </a:p>
          <a:p>
            <a:pPr algn="l"/>
            <a:r>
              <a:rPr sz="1600" b="0">
                <a:solidFill>
                  <a:srgbClr val="E6EAF5"/>
                </a:solidFill>
                <a:latin typeface="Consolas"/>
              </a:rPr>
              <a:t>        self.name = name</a:t>
            </a:r>
          </a:p>
          <a:p>
            <a:pPr algn="l"/>
            <a:r>
              <a:rPr sz="1600" b="0">
                <a:solidFill>
                  <a:srgbClr val="E6EAF5"/>
                </a:solidFill>
                <a:latin typeface="Consolas"/>
              </a:rPr>
              <a:t>        self.glucose = 0</a:t>
            </a:r>
          </a:p>
          <a:p>
            <a:pPr algn="l"/>
            <a:r>
              <a:rPr sz="1600" b="0">
                <a:solidFill>
                  <a:srgbClr val="E6EAF5"/>
                </a:solidFill>
                <a:latin typeface="Consolas"/>
              </a:rPr>
              <a:t/>
            </a:r>
          </a:p>
          <a:p>
            <a:pPr algn="l"/>
            <a:r>
              <a:rPr sz="1600" b="0">
                <a:solidFill>
                  <a:srgbClr val="E6EAF5"/>
                </a:solidFill>
                <a:latin typeface="Consolas"/>
              </a:rPr>
              <a:t>    def perform_photosynthesis(self, sunlight, water, co2):</a:t>
            </a:r>
          </a:p>
          <a:p>
            <a:pPr algn="l"/>
            <a:r>
              <a:rPr sz="1600" b="0">
                <a:solidFill>
                  <a:srgbClr val="E6EAF5"/>
                </a:solidFill>
                <a:latin typeface="Consolas"/>
              </a:rPr>
              <a:t>        if sunlight and water &gt; 0 and co2 &gt; 0:</a:t>
            </a:r>
          </a:p>
          <a:p>
            <a:pPr algn="l"/>
            <a:r>
              <a:rPr sz="1600" b="0">
                <a:solidFill>
                  <a:srgbClr val="E6EAF5"/>
                </a:solidFill>
                <a:latin typeface="Consolas"/>
              </a:rPr>
              <a:t>            self.glucose += 10</a:t>
            </a:r>
          </a:p>
          <a:p>
            <a:pPr algn="l"/>
            <a:r>
              <a:rPr sz="1600" b="0">
                <a:solidFill>
                  <a:srgbClr val="E6EAF5"/>
                </a:solidFill>
                <a:latin typeface="Consolas"/>
              </a:rPr>
              <a:t>            return True</a:t>
            </a:r>
          </a:p>
          <a:p>
            <a:pPr algn="l"/>
            <a:r>
              <a:rPr sz="1600" b="0">
                <a:solidFill>
                  <a:srgbClr val="E6EAF5"/>
                </a:solidFill>
                <a:latin typeface="Consolas"/>
              </a:rPr>
              <a:t>        return False</a:t>
            </a:r>
          </a:p>
          <a:p>
            <a:pPr algn="l"/>
            <a:r>
              <a:rPr sz="1600" b="0">
                <a:solidFill>
                  <a:srgbClr val="E6EAF5"/>
                </a:solidFill>
                <a:latin typeface="Consolas"/>
              </a:rPr>
              <a:t/>
            </a:r>
          </a:p>
          <a:p>
            <a:pPr algn="l"/>
            <a:r>
              <a:rPr sz="1600" b="0">
                <a:solidFill>
                  <a:srgbClr val="E6EAF5"/>
                </a:solidFill>
                <a:latin typeface="Consolas"/>
              </a:rPr>
              <a:t>my_plant = Plant("Fern")</a:t>
            </a:r>
          </a:p>
          <a:p>
            <a:pPr algn="l"/>
            <a:r>
              <a:rPr sz="1600" b="0">
                <a:solidFill>
                  <a:srgbClr val="E6EAF5"/>
                </a:solidFill>
                <a:latin typeface="Consolas"/>
              </a:rPr>
              <a:t>success = my_plant.perform_photosynthesis(True, 5, 5)</a:t>
            </a:r>
          </a:p>
          <a:p>
            <a:pPr algn="l"/>
            <a:r>
              <a:rPr sz="1600" b="0">
                <a:solidFill>
                  <a:srgbClr val="E6EAF5"/>
                </a:solidFill>
                <a:latin typeface="Consolas"/>
              </a:rPr>
              <a:t>print(f"Plant {my_plant.name} produced glucose: {my_plant.glucose} units")</a:t>
            </a:r>
          </a:p>
        </p:txBody>
      </p:sp>
      <p:sp>
        <p:nvSpPr>
          <p:cNvPr id="8" name="Rounded Rectangle 7"/>
          <p:cNvSpPr/>
          <p:nvPr/>
        </p:nvSpPr>
        <p:spPr>
          <a:xfrm>
            <a:off x="7897782" y="1828800"/>
            <a:ext cx="3653832" cy="4160520"/>
          </a:xfrm>
          <a:prstGeom prst="roundRect">
            <a:avLst>
              <a:gd name="adj" fmla="val 3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26382" y="2011680"/>
            <a:ext cx="3196632" cy="274320"/>
          </a:xfrm>
          <a:prstGeom prst="rect">
            <a:avLst/>
          </a:prstGeom>
          <a:noFill/>
        </p:spPr>
        <p:txBody>
          <a:bodyPr wrap="square" anchor="t" lIns="0" rIns="0" tIns="0" bIns="0">
            <a:spAutoFit/>
          </a:bodyPr>
          <a:lstStyle/>
          <a:p>
            <a:pPr algn="l"/>
            <a:r>
              <a:rPr sz="1200" b="1">
                <a:solidFill>
                  <a:srgbClr val="1F7A4D"/>
                </a:solidFill>
                <a:latin typeface="Segoe UI"/>
              </a:rPr>
              <a:t>OUTPUT</a:t>
            </a:r>
          </a:p>
        </p:txBody>
      </p:sp>
      <p:sp>
        <p:nvSpPr>
          <p:cNvPr id="10" name="TextBox 9"/>
          <p:cNvSpPr txBox="1"/>
          <p:nvPr/>
        </p:nvSpPr>
        <p:spPr>
          <a:xfrm>
            <a:off x="8126382" y="2377440"/>
            <a:ext cx="3196632" cy="3429000"/>
          </a:xfrm>
          <a:prstGeom prst="rect">
            <a:avLst/>
          </a:prstGeom>
          <a:noFill/>
        </p:spPr>
        <p:txBody>
          <a:bodyPr wrap="square">
            <a:spAutoFit/>
          </a:bodyPr>
          <a:lstStyle/>
          <a:p>
            <a:pPr algn="l"/>
            <a:r>
              <a:rPr sz="1300" b="0">
                <a:solidFill>
                  <a:srgbClr val="1B2540"/>
                </a:solidFill>
                <a:latin typeface="Consolas"/>
              </a:rPr>
              <a:t>Plant Fern produced glucose: 10 units</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CHECK YOUR UNDERSTANDING 1</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ما هو الفرق الجوهري بين الكائنات ذاتية التغذية وغير ذاتية التغذية؟</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القدرة على تحويل الطاقة الضوئية إلى طاقة كيميائية</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الاعتماد الكلي على امتصاص المواد العضوية الجاهزة</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القدرة على العيش في بيئات خالية من الأكسجين</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الاعتماد على التحلل الخارجي للحصول على الغذاء</a:t>
            </a:r>
          </a:p>
        </p:txBody>
      </p:sp>
      <p:sp>
        <p:nvSpPr>
          <p:cNvPr id="10" name="Rectangle 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12" name="TextBox 1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ANSWER 1</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ما هو الفرق الجوهري بين الكائنات ذاتية التغذية وغير ذاتية التغذية؟</a:t>
            </a:r>
          </a:p>
        </p:txBody>
      </p:sp>
      <p:sp>
        <p:nvSpPr>
          <p:cNvPr id="6" name="Rounded Rectangle 5"/>
          <p:cNvSpPr/>
          <p:nvPr/>
        </p:nvSpPr>
        <p:spPr>
          <a:xfrm>
            <a:off x="640080" y="2057400"/>
            <a:ext cx="5318607" cy="1051560"/>
          </a:xfrm>
          <a:prstGeom prst="roundRect">
            <a:avLst>
              <a:gd name="adj" fmla="val 12000"/>
            </a:avLst>
          </a:prstGeom>
          <a:solidFill>
            <a:srgbClr val="DDF3E7"/>
          </a:solidFill>
          <a:ln w="12700">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1">
                <a:solidFill>
                  <a:srgbClr val="1F7A4D"/>
                </a:solidFill>
                <a:latin typeface="Segoe UI"/>
              </a:rPr>
              <a:t>A.  القدرة على تحويل الطاقة الضوئية إلى طاقة كيميائية</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الاعتماد الكلي على امتصاص المواد العضوية الجاهزة</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القدرة على العيش في بيئات خالية من الأكسجين</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الاعتماد على التحلل الخارجي للحصول على الغذاء</a:t>
            </a:r>
          </a:p>
        </p:txBody>
      </p:sp>
      <p:sp>
        <p:nvSpPr>
          <p:cNvPr id="10" name="TextBox 9"/>
          <p:cNvSpPr txBox="1"/>
          <p:nvPr/>
        </p:nvSpPr>
        <p:spPr>
          <a:xfrm>
            <a:off x="640080" y="4892040"/>
            <a:ext cx="10911535" cy="822960"/>
          </a:xfrm>
          <a:prstGeom prst="rect">
            <a:avLst/>
          </a:prstGeom>
          <a:noFill/>
        </p:spPr>
        <p:txBody>
          <a:bodyPr wrap="square" anchor="t" lIns="0" rIns="0" tIns="0" bIns="0">
            <a:spAutoFit/>
          </a:bodyPr>
          <a:lstStyle/>
          <a:p>
            <a:pPr algn="r" rtl="1"/>
            <a:r>
              <a:rPr sz="1600" b="0">
                <a:solidFill>
                  <a:srgbClr val="4A5572"/>
                </a:solidFill>
                <a:latin typeface="Segoe UI"/>
              </a:rPr>
              <a:t>الكائنات ذاتية التغذية مثل النباتات تمتلك القدرة على بناء مركباتها العضوية من مواد غير عضوية باستخدام الطاقة الضوئية.</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CHECK YOUR UNDERSTANDING 2</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أي من الخصائص التالية تجعل الشعيرات الجذرية فعالة في امتصاص الماء؟</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وجود جدار خلوي سميك يمنع فقدان الماء</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زيادة مساحة السطح المعرض للتربة</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احتواؤها على عدد كبير من البلاستيدات الخضراء</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قدرتها على إنتاج الأكسجين داخل التربة</a:t>
            </a:r>
          </a:p>
        </p:txBody>
      </p:sp>
      <p:sp>
        <p:nvSpPr>
          <p:cNvPr id="10" name="Rectangle 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12" name="TextBox 1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ANSWER 2</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أي من الخصائص التالية تجعل الشعيرات الجذرية فعالة في امتصاص الماء؟</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وجود جدار خلوي سميك يمنع فقدان الماء</a:t>
            </a:r>
          </a:p>
        </p:txBody>
      </p:sp>
      <p:sp>
        <p:nvSpPr>
          <p:cNvPr id="7" name="Rounded Rectangle 6"/>
          <p:cNvSpPr/>
          <p:nvPr/>
        </p:nvSpPr>
        <p:spPr>
          <a:xfrm>
            <a:off x="6233007" y="2057400"/>
            <a:ext cx="5318607" cy="1051560"/>
          </a:xfrm>
          <a:prstGeom prst="roundRect">
            <a:avLst>
              <a:gd name="adj" fmla="val 12000"/>
            </a:avLst>
          </a:prstGeom>
          <a:solidFill>
            <a:srgbClr val="DDF3E7"/>
          </a:solidFill>
          <a:ln w="12700">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1">
                <a:solidFill>
                  <a:srgbClr val="1F7A4D"/>
                </a:solidFill>
                <a:latin typeface="Segoe UI"/>
              </a:rPr>
              <a:t>B.  زيادة مساحة السطح المعرض للتربة</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احتواؤها على عدد كبير من البلاستيدات الخضراء</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قدرتها على إنتاج الأكسجين داخل التربة</a:t>
            </a:r>
          </a:p>
        </p:txBody>
      </p:sp>
      <p:sp>
        <p:nvSpPr>
          <p:cNvPr id="10" name="TextBox 9"/>
          <p:cNvSpPr txBox="1"/>
          <p:nvPr/>
        </p:nvSpPr>
        <p:spPr>
          <a:xfrm>
            <a:off x="640080" y="4892040"/>
            <a:ext cx="10911535" cy="822960"/>
          </a:xfrm>
          <a:prstGeom prst="rect">
            <a:avLst/>
          </a:prstGeom>
          <a:noFill/>
        </p:spPr>
        <p:txBody>
          <a:bodyPr wrap="square" anchor="t" lIns="0" rIns="0" tIns="0" bIns="0">
            <a:spAutoFit/>
          </a:bodyPr>
          <a:lstStyle/>
          <a:p>
            <a:pPr algn="r" rtl="1"/>
            <a:r>
              <a:rPr sz="1600" b="0">
                <a:solidFill>
                  <a:srgbClr val="4A5572"/>
                </a:solidFill>
                <a:latin typeface="Segoe UI"/>
              </a:rPr>
              <a:t>تزيد الشعيرات الجذرية من مساحة السطح المتاحة لامتصاص الماء والأملاح المعدنية من التربة بشكل كبير.</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CHECK YOUR UNDERSTANDING 3</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ما هو الدور الرئيسي للخاصية الأسموزية في عملية امتصاص الماء؟</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نقل الأملاح المعدنية ضد منحدر التركيز</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تحويل الماء إلى سكريات بسيطة داخل الجذر</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انتقال الماء من الوسط الأقل تركيزاً للأملاح إلى الأعلى</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تثبيت النيتروجين الجوي داخل أنسجة الجذر</a:t>
            </a:r>
          </a:p>
        </p:txBody>
      </p:sp>
      <p:sp>
        <p:nvSpPr>
          <p:cNvPr id="10" name="Rectangle 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12" name="TextBox 1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ANSWER 3</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ما هو الدور الرئيسي للخاصية الأسموزية في عملية امتصاص الماء؟</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نقل الأملاح المعدنية ضد منحدر التركيز</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تحويل الماء إلى سكريات بسيطة داخل الجذر</a:t>
            </a:r>
          </a:p>
        </p:txBody>
      </p:sp>
      <p:sp>
        <p:nvSpPr>
          <p:cNvPr id="8" name="Rounded Rectangle 7"/>
          <p:cNvSpPr/>
          <p:nvPr/>
        </p:nvSpPr>
        <p:spPr>
          <a:xfrm>
            <a:off x="640080" y="3383280"/>
            <a:ext cx="5318607" cy="1051560"/>
          </a:xfrm>
          <a:prstGeom prst="roundRect">
            <a:avLst>
              <a:gd name="adj" fmla="val 12000"/>
            </a:avLst>
          </a:prstGeom>
          <a:solidFill>
            <a:srgbClr val="DDF3E7"/>
          </a:solidFill>
          <a:ln w="12700">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1">
                <a:solidFill>
                  <a:srgbClr val="1F7A4D"/>
                </a:solidFill>
                <a:latin typeface="Segoe UI"/>
              </a:rPr>
              <a:t>C.  انتقال الماء من الوسط الأقل تركيزاً للأملاح إلى الأعلى</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تثبيت النيتروجين الجوي داخل أنسجة الجذر</a:t>
            </a:r>
          </a:p>
        </p:txBody>
      </p:sp>
      <p:sp>
        <p:nvSpPr>
          <p:cNvPr id="10" name="TextBox 9"/>
          <p:cNvSpPr txBox="1"/>
          <p:nvPr/>
        </p:nvSpPr>
        <p:spPr>
          <a:xfrm>
            <a:off x="640080" y="4892040"/>
            <a:ext cx="10911535" cy="822960"/>
          </a:xfrm>
          <a:prstGeom prst="rect">
            <a:avLst/>
          </a:prstGeom>
          <a:noFill/>
        </p:spPr>
        <p:txBody>
          <a:bodyPr wrap="square" anchor="t" lIns="0" rIns="0" tIns="0" bIns="0">
            <a:spAutoFit/>
          </a:bodyPr>
          <a:lstStyle/>
          <a:p>
            <a:pPr algn="r" rtl="1"/>
            <a:r>
              <a:rPr sz="1600" b="0">
                <a:solidFill>
                  <a:srgbClr val="4A5572"/>
                </a:solidFill>
                <a:latin typeface="Segoe UI"/>
              </a:rPr>
              <a:t>تنتقل جزيئات الماء عبر الخاصية الأسموزية من منطقة ذات تركيز أملاح منخفض في التربة إلى منطقة ذات تركيز أملاح أعلى داخل الجذر.</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ملخص ومراجعة</a:t>
            </a:r>
          </a:p>
        </p:txBody>
      </p:sp>
      <p:sp>
        <p:nvSpPr>
          <p:cNvPr id="5" name="Rectangle 4"/>
          <p:cNvSpPr/>
          <p:nvPr/>
        </p:nvSpPr>
        <p:spPr>
          <a:xfrm>
            <a:off x="11405311"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تغذية النبات عملية متكاملة تبدأ من الجذور</a:t>
            </a:r>
          </a:p>
        </p:txBody>
      </p:sp>
      <p:sp>
        <p:nvSpPr>
          <p:cNvPr id="7" name="Rectangle 6"/>
          <p:cNvSpPr/>
          <p:nvPr/>
        </p:nvSpPr>
        <p:spPr>
          <a:xfrm>
            <a:off x="11405311"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الماء والأملاح هما اللبنات الأساسية للبناء الضوئي</a:t>
            </a:r>
          </a:p>
        </p:txBody>
      </p:sp>
      <p:sp>
        <p:nvSpPr>
          <p:cNvPr id="9" name="Rectangle 8"/>
          <p:cNvSpPr/>
          <p:nvPr/>
        </p:nvSpPr>
        <p:spPr>
          <a:xfrm>
            <a:off x="11405311"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التكافل الفطري والبيئة يحددان نجاح التغذية</a:t>
            </a:r>
          </a:p>
        </p:txBody>
      </p:sp>
      <p:sp>
        <p:nvSpPr>
          <p:cNvPr id="11" name="Rectangle 10"/>
          <p:cNvSpPr/>
          <p:nvPr/>
        </p:nvSpPr>
        <p:spPr>
          <a:xfrm>
            <a:off x="11405311"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دورة حياة النبات تعتمد على كفاءة هذه العمليات</a:t>
            </a:r>
          </a:p>
        </p:txBody>
      </p:sp>
      <p:sp>
        <p:nvSpPr>
          <p:cNvPr id="13" name="Rectangle 12"/>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دكتوره مريم سيد · أحياء 101 - د. منى</a:t>
            </a:r>
          </a:p>
        </p:txBody>
      </p:sp>
      <p:sp>
        <p:nvSpPr>
          <p:cNvPr id="15" name="TextBox 14"/>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