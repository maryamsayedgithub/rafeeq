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أهلاً بكم في هذه الجلسة المتقدمة حول دوال Python. سنقوم اليوم بتطوير مهاراتكم في تصميم واجهات برمجية أكثر مرونة وقوة. سنغطي تقنيات متقدمة للتحكم في المدخلات وضمان جودة الكود.</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فهم الفرق بين الوسائط الموضعية والمفتاحية هو حجر الأساس لتصميم دوال واضحة. الوسائط الموضعية سريعة ولكنها قد تكون غامضة، بينما الوسائط المفتاحية تجعل الكود مقروءاً بشكل أفضل. يجب دائماً وضع الوسائط الموضعية قبل المفتاحية لتجنب أخطاء SyntaxError.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تسمح لنا *args و **kwargs بإنشاء دوال مرنة جداً تقبل أي عدد من المدخلات. هذا مفيد بشكل خاص عند بناء Decorators أو دوال التغليف. تذكر أن الإفراط في استخدامها قد يجعل تتبع الكود صعباً للمطورين الآخرين.</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تسمح لنا الرموز / و * بالتحكم الصارم في كيفية استدعاء الدالة. هذا يمنع المطورين من تمرير وسائط بطرق غير متوافقة مع تصميم الدالة. استخدام هذه القيود يجعل الكود أكثر استقراراً وقابلية للصيانة على المدى الطويل.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تلميحات الأنواع ليست مجرد توثيق، بل هي أداة قوية لاكتشاف الأخطاء مبكراً. من خلال تحديد الأنواع، نساعد المترجم وأدوات التحليل الساكن على فهم الكود بشكل أفضل. هذا يقلل من الأخطاء الناتجة عن تمرير أنواع بيانات غير متوافقة.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التصميم النمطي يعني بناء دوال صغيرة تقوم بمهمة واحدة فقط بشكل ممتاز. تجنب الدوال العملاقة التي تفعل كل شيء، فهذا يجعل الاختبار والصيانة كابوساً. التوثيق الجيد هو جزء لا يتجزأ من جودة الكود البرمجي.</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يوضح هذا المثال كيفية استخدام العلامة النجمية لفرض استخدام الكلمات المفتاحية للوسائط اللاحقة، مع إضافة تلميحات النوع لتحسين جودة الكود. يتم تحديد العرض والارتفاع كقيم موضعية، بينما يجب تحديد الوحدة ككلمة مفتاحية. يطبع الكود مساحة المستطيل مع الوحدة المحددة، أو الوحدة الافتراضية إذا لم يتم توفيرها.</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يستخدم هذا المثال args لجمع عدد غير محدود من الأرقام و kwargs لجمع أي وسائط إضافية كقاموس. تقوم الدالة بحساب مجموع الأرقام الممررة وطباعة العنوان مع تفاصيل إضافية من القاموس. يطبع الكود عنوان التقرير، مجموع الأرقام، واسم المؤلف مع الحالة.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لقد غطينا اليوم تقنيات متقدمة تجعل دوال Python أكثر احترافية. الآن حان الوقت لتطبيق هذه المفاهيم من خلال تمرين إعادة هيكلة كود قديم. تذكر أن الممارسة هي الطريق الوحيد لإتقان هذه المهارات.</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2148840"/>
            <a:ext cx="1005840" cy="82296"/>
          </a:xfrm>
          <a:prstGeom prst="rect">
            <a:avLst/>
          </a:prstGeom>
          <a:solidFill>
            <a:srgbClr val="FFE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468880"/>
            <a:ext cx="10332720" cy="2194560"/>
          </a:xfrm>
          <a:prstGeom prst="rect">
            <a:avLst/>
          </a:prstGeom>
          <a:noFill/>
        </p:spPr>
        <p:txBody>
          <a:bodyPr wrap="square" anchor="t" lIns="0" rIns="0" tIns="0" bIns="0">
            <a:spAutoFit/>
          </a:bodyPr>
          <a:lstStyle/>
          <a:p>
            <a:pPr algn="l"/>
            <a:r>
              <a:rPr sz="4800" b="1">
                <a:solidFill>
                  <a:srgbClr val="FFFFFF"/>
                </a:solidFill>
                <a:latin typeface="Segoe UI"/>
              </a:rPr>
              <a:t>Python Functions</a:t>
            </a:r>
          </a:p>
        </p:txBody>
      </p:sp>
      <p:sp>
        <p:nvSpPr>
          <p:cNvPr id="6" name="TextBox 5"/>
          <p:cNvSpPr txBox="1"/>
          <p:nvPr/>
        </p:nvSpPr>
        <p:spPr>
          <a:xfrm>
            <a:off x="914400" y="4892040"/>
            <a:ext cx="10058400" cy="457200"/>
          </a:xfrm>
          <a:prstGeom prst="rect">
            <a:avLst/>
          </a:prstGeom>
          <a:noFill/>
        </p:spPr>
        <p:txBody>
          <a:bodyPr wrap="square" anchor="t" lIns="0" rIns="0" tIns="0" bIns="0">
            <a:spAutoFit/>
          </a:bodyPr>
          <a:lstStyle/>
          <a:p>
            <a:pPr algn="r" rtl="1"/>
            <a:r>
              <a:rPr sz="2200" b="0">
                <a:solidFill>
                  <a:srgbClr val="FFFFFF"/>
                </a:solidFill>
                <a:latin typeface="Segoe UI"/>
              </a:rPr>
              <a:t>مهندسه Maryam Sayed Ahmed</a:t>
            </a:r>
          </a:p>
        </p:txBody>
      </p:sp>
      <p:sp>
        <p:nvSpPr>
          <p:cNvPr id="7" name="TextBox 6"/>
          <p:cNvSpPr txBox="1"/>
          <p:nvPr/>
        </p:nvSpPr>
        <p:spPr>
          <a:xfrm>
            <a:off x="640080" y="6309360"/>
            <a:ext cx="8229600" cy="320040"/>
          </a:xfrm>
          <a:prstGeom prst="rect">
            <a:avLst/>
          </a:prstGeom>
          <a:noFill/>
        </p:spPr>
        <p:txBody>
          <a:bodyPr wrap="square" anchor="t" lIns="0" rIns="0" tIns="0" bIns="0">
            <a:spAutoFit/>
          </a:bodyPr>
          <a:lstStyle/>
          <a:p>
            <a:pPr algn="l"/>
            <a:r>
              <a:rPr sz="1200" b="0">
                <a:solidFill>
                  <a:srgbClr val="B8C1D9"/>
                </a:solidFill>
                <a:latin typeface="Segoe UI"/>
              </a:rPr>
              <a:t/>
            </a:r>
          </a:p>
        </p:txBody>
      </p:sp>
      <p:sp>
        <p:nvSpPr>
          <p:cNvPr id="8" name="TextBox 7"/>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B8C1D9"/>
                </a:solidFill>
                <a:latin typeface="Segoe UI"/>
              </a:rPr>
              <a:t>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مقدمة في الدوال المتقدمة</a:t>
            </a:r>
          </a:p>
        </p:txBody>
      </p:sp>
      <p:sp>
        <p:nvSpPr>
          <p:cNvPr id="5" name="Rectangle 4"/>
          <p:cNvSpPr/>
          <p:nvPr/>
        </p:nvSpPr>
        <p:spPr>
          <a:xfrm>
            <a:off x="11405311"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مراجعة سريعة لمفاهيم الدوال الأساسية</a:t>
            </a:r>
          </a:p>
        </p:txBody>
      </p:sp>
      <p:sp>
        <p:nvSpPr>
          <p:cNvPr id="7" name="Rectangle 6"/>
          <p:cNvSpPr/>
          <p:nvPr/>
        </p:nvSpPr>
        <p:spPr>
          <a:xfrm>
            <a:off x="11405311"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التركيز على تحسين مرونة واجهات البرمجة</a:t>
            </a:r>
          </a:p>
        </p:txBody>
      </p:sp>
      <p:sp>
        <p:nvSpPr>
          <p:cNvPr id="9" name="Rectangle 8"/>
          <p:cNvSpPr/>
          <p:nvPr/>
        </p:nvSpPr>
        <p:spPr>
          <a:xfrm>
            <a:off x="11405311"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تطبيق معايير الجودة في كتابة الدوال</a:t>
            </a:r>
          </a:p>
        </p:txBody>
      </p:sp>
      <p:sp>
        <p:nvSpPr>
          <p:cNvPr id="11" name="Rectangle 10"/>
          <p:cNvSpPr/>
          <p:nvPr/>
        </p:nvSpPr>
        <p:spPr>
          <a:xfrm>
            <a:off x="11405311"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الاستعداد للتمارين العملية المتقدمة</a:t>
            </a:r>
          </a:p>
        </p:txBody>
      </p:sp>
      <p:sp>
        <p:nvSpPr>
          <p:cNvPr id="13" name="Rectangle 12"/>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5" name="TextBox 14"/>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إدارة الوسائط: Positional vs Keyword</a:t>
            </a:r>
          </a:p>
        </p:txBody>
      </p:sp>
      <p:sp>
        <p:nvSpPr>
          <p:cNvPr id="5" name="Rectangle 4"/>
          <p:cNvSpPr/>
          <p:nvPr/>
        </p:nvSpPr>
        <p:spPr>
          <a:xfrm>
            <a:off x="11405311"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الوسائط الموضعية تعتمد على ترتيب الاستدعاء</a:t>
            </a:r>
          </a:p>
        </p:txBody>
      </p:sp>
      <p:sp>
        <p:nvSpPr>
          <p:cNvPr id="7" name="Rectangle 6"/>
          <p:cNvSpPr/>
          <p:nvPr/>
        </p:nvSpPr>
        <p:spPr>
          <a:xfrm>
            <a:off x="11405311"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الوسائط المفتاحية توفر وضوحاً أكبر للكود</a:t>
            </a:r>
          </a:p>
        </p:txBody>
      </p:sp>
      <p:sp>
        <p:nvSpPr>
          <p:cNvPr id="9" name="Rectangle 8"/>
          <p:cNvSpPr/>
          <p:nvPr/>
        </p:nvSpPr>
        <p:spPr>
          <a:xfrm>
            <a:off x="11405311"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الجمع بينهما يتطلب ترتيباً محدداً في الاستدعاء</a:t>
            </a:r>
          </a:p>
        </p:txBody>
      </p:sp>
      <p:sp>
        <p:nvSpPr>
          <p:cNvPr id="11" name="Rectangle 10"/>
          <p:cNvSpPr/>
          <p:nvPr/>
        </p:nvSpPr>
        <p:spPr>
          <a:xfrm>
            <a:off x="11405311"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تجنب الأخطاء الشائعة عند خلط أنواع الوسائط</a:t>
            </a:r>
          </a:p>
        </p:txBody>
      </p:sp>
      <p:sp>
        <p:nvSpPr>
          <p:cNvPr id="13" name="Rectangle 12"/>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5" name="TextBox 14"/>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مرونة الدوال مع *args و **kwargs</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استخدام *args لاستقبال عدد غير محدود من الوسائط</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استخدام **kwargs للتعامل مع الوسائط المفتاحية الديناميكية</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تسهيل عملية تمرير الوسائط بين الدوال المتداخلة</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تجنب الإفراط في استخدامها للحفاظ على وضوح التوقيع</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استقبال المدخلات</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تجميعها في Tuple أو Dict</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معالجة البيانات ديناميكياً</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إرجاع النتيجة</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فرض قيود التوقيع: Slash و Asterisk</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استخدام / لفرض وسائط موضعية فقط</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استخدام * لفرض وسائط مفتاحية فقط</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تحسين أمان الواجهات البرمجية API</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منع المستخدمين من تمرير وسائط غير مقصودة</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تحديد الوسائط</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إضافة الفاصل / أو *</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فرض قيود الاستدعاء</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التحقق من التوقيع</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تحسين جودة الكود عبر Type Hinting</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تحديد أنواع البيانات للمدخلات والمخرجات</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استخدام مكتبة typing للأنواع المعقدة</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تسهيل عملية اكتشاف الأخطاء بواسطة الأدوات</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تحسين تجربة التطوير في بيئات IDE</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إضافة تلميحات الأنواع</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تحليل الكود بواسطة IDE</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اكتشاف عدم التطابق</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تصحيح الأخطاء</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أفضل ممارسات التصميم النمطي</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مبدأ المسؤولية الواحدة لكل دالة</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تقليل الاعتمادية على المتغيرات العالمية</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توثيق الدوال باستخدام Docstrings واضحة</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الحفاظ على الدوال قصيرة ومركزة</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تحديد المهمة</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تفكيك المهام الكبيرة</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بناء دوال مستقلة</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ربط الدوال معاً</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CODE EXAMPLE</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2400" b="1">
                <a:solidFill>
                  <a:srgbClr val="1B2540"/>
                </a:solidFill>
                <a:latin typeface="Segoe UI"/>
              </a:rPr>
              <a:t>استخدام الوسائط الموضعية والكلمات المفتاحية مع تلميحات النوع</a:t>
            </a:r>
          </a:p>
        </p:txBody>
      </p:sp>
      <p:sp>
        <p:nvSpPr>
          <p:cNvPr id="6" name="Rounded Rectangle 5"/>
          <p:cNvSpPr/>
          <p:nvPr/>
        </p:nvSpPr>
        <p:spPr>
          <a:xfrm>
            <a:off x="640080" y="1828800"/>
            <a:ext cx="6983382" cy="4160520"/>
          </a:xfrm>
          <a:prstGeom prst="roundRect">
            <a:avLst>
              <a:gd name="adj" fmla="val 3000"/>
            </a:avLst>
          </a:prstGeom>
          <a:solidFill>
            <a:srgbClr val="121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11680"/>
            <a:ext cx="6526182" cy="3794759"/>
          </a:xfrm>
          <a:prstGeom prst="rect">
            <a:avLst/>
          </a:prstGeom>
          <a:noFill/>
        </p:spPr>
        <p:txBody>
          <a:bodyPr wrap="square">
            <a:spAutoFit/>
          </a:bodyPr>
          <a:lstStyle/>
          <a:p>
            <a:pPr algn="l"/>
            <a:r>
              <a:rPr sz="1600" b="0">
                <a:solidFill>
                  <a:srgbClr val="E6EAF5"/>
                </a:solidFill>
                <a:latin typeface="Consolas"/>
              </a:rPr>
              <a:t>def calculate_area(width: float, height: float, *, unit: str = 'cm') -&gt; float:</a:t>
            </a:r>
          </a:p>
          <a:p>
            <a:pPr algn="l"/>
            <a:r>
              <a:rPr sz="1600" b="0">
                <a:solidFill>
                  <a:srgbClr val="E6EAF5"/>
                </a:solidFill>
                <a:latin typeface="Consolas"/>
              </a:rPr>
              <a:t>    area = width * height</a:t>
            </a:r>
          </a:p>
          <a:p>
            <a:pPr algn="l"/>
            <a:r>
              <a:rPr sz="1600" b="0">
                <a:solidFill>
                  <a:srgbClr val="E6EAF5"/>
                </a:solidFill>
                <a:latin typeface="Consolas"/>
              </a:rPr>
              <a:t>    print(f'Area: {area} {unit}')</a:t>
            </a:r>
          </a:p>
          <a:p>
            <a:pPr algn="l"/>
            <a:r>
              <a:rPr sz="1600" b="0">
                <a:solidFill>
                  <a:srgbClr val="E6EAF5"/>
                </a:solidFill>
                <a:latin typeface="Consolas"/>
              </a:rPr>
              <a:t>    return area</a:t>
            </a:r>
          </a:p>
          <a:p>
            <a:pPr algn="l"/>
            <a:r>
              <a:rPr sz="1600" b="0">
                <a:solidFill>
                  <a:srgbClr val="E6EAF5"/>
                </a:solidFill>
                <a:latin typeface="Consolas"/>
              </a:rPr>
              <a:t/>
            </a:r>
          </a:p>
          <a:p>
            <a:pPr algn="l"/>
            <a:r>
              <a:rPr sz="1600" b="0">
                <a:solidFill>
                  <a:srgbClr val="E6EAF5"/>
                </a:solidFill>
                <a:latin typeface="Consolas"/>
              </a:rPr>
              <a:t>calculate_area(10.0, 5.0, unit='meters')</a:t>
            </a:r>
          </a:p>
          <a:p>
            <a:pPr algn="l"/>
            <a:r>
              <a:rPr sz="1600" b="0">
                <a:solidFill>
                  <a:srgbClr val="E6EAF5"/>
                </a:solidFill>
                <a:latin typeface="Consolas"/>
              </a:rPr>
              <a:t>calculate_area(2.0, 3.0)</a:t>
            </a:r>
          </a:p>
        </p:txBody>
      </p:sp>
      <p:sp>
        <p:nvSpPr>
          <p:cNvPr id="8" name="Rounded Rectangle 7"/>
          <p:cNvSpPr/>
          <p:nvPr/>
        </p:nvSpPr>
        <p:spPr>
          <a:xfrm>
            <a:off x="7897782" y="1828800"/>
            <a:ext cx="3653832" cy="4160520"/>
          </a:xfrm>
          <a:prstGeom prst="roundRect">
            <a:avLst>
              <a:gd name="adj" fmla="val 3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26382" y="2011680"/>
            <a:ext cx="3196632" cy="274320"/>
          </a:xfrm>
          <a:prstGeom prst="rect">
            <a:avLst/>
          </a:prstGeom>
          <a:noFill/>
        </p:spPr>
        <p:txBody>
          <a:bodyPr wrap="square" anchor="t" lIns="0" rIns="0" tIns="0" bIns="0">
            <a:spAutoFit/>
          </a:bodyPr>
          <a:lstStyle/>
          <a:p>
            <a:pPr algn="l"/>
            <a:r>
              <a:rPr sz="1200" b="1">
                <a:solidFill>
                  <a:srgbClr val="1F7A4D"/>
                </a:solidFill>
                <a:latin typeface="Segoe UI"/>
              </a:rPr>
              <a:t>OUTPUT</a:t>
            </a:r>
          </a:p>
        </p:txBody>
      </p:sp>
      <p:sp>
        <p:nvSpPr>
          <p:cNvPr id="10" name="TextBox 9"/>
          <p:cNvSpPr txBox="1"/>
          <p:nvPr/>
        </p:nvSpPr>
        <p:spPr>
          <a:xfrm>
            <a:off x="8126382" y="2377440"/>
            <a:ext cx="3196632" cy="3429000"/>
          </a:xfrm>
          <a:prstGeom prst="rect">
            <a:avLst/>
          </a:prstGeom>
          <a:noFill/>
        </p:spPr>
        <p:txBody>
          <a:bodyPr wrap="square">
            <a:spAutoFit/>
          </a:bodyPr>
          <a:lstStyle/>
          <a:p>
            <a:pPr algn="l"/>
            <a:r>
              <a:rPr sz="1300" b="0">
                <a:solidFill>
                  <a:srgbClr val="1B2540"/>
                </a:solidFill>
                <a:latin typeface="Consolas"/>
              </a:rPr>
              <a:t>Area: 50.0 meters</a:t>
            </a:r>
          </a:p>
          <a:p>
            <a:pPr algn="l"/>
            <a:r>
              <a:rPr sz="1300" b="0">
                <a:solidFill>
                  <a:srgbClr val="1B2540"/>
                </a:solidFill>
                <a:latin typeface="Consolas"/>
              </a:rPr>
              <a:t>Area: 6.0 cm</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CODE EXAMPLE</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3000" b="1">
                <a:solidFill>
                  <a:srgbClr val="1B2540"/>
                </a:solidFill>
                <a:latin typeface="Segoe UI"/>
              </a:rPr>
              <a:t>التعامل مع الوسائط المرنة باستخدام args و kwargs</a:t>
            </a:r>
          </a:p>
        </p:txBody>
      </p:sp>
      <p:sp>
        <p:nvSpPr>
          <p:cNvPr id="6" name="Rounded Rectangle 5"/>
          <p:cNvSpPr/>
          <p:nvPr/>
        </p:nvSpPr>
        <p:spPr>
          <a:xfrm>
            <a:off x="640080" y="1828800"/>
            <a:ext cx="6983382" cy="4160520"/>
          </a:xfrm>
          <a:prstGeom prst="roundRect">
            <a:avLst>
              <a:gd name="adj" fmla="val 3000"/>
            </a:avLst>
          </a:prstGeom>
          <a:solidFill>
            <a:srgbClr val="121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11680"/>
            <a:ext cx="6526182" cy="3794759"/>
          </a:xfrm>
          <a:prstGeom prst="rect">
            <a:avLst/>
          </a:prstGeom>
          <a:noFill/>
        </p:spPr>
        <p:txBody>
          <a:bodyPr wrap="square">
            <a:spAutoFit/>
          </a:bodyPr>
          <a:lstStyle/>
          <a:p>
            <a:pPr algn="l"/>
            <a:r>
              <a:rPr sz="1600" b="0">
                <a:solidFill>
                  <a:srgbClr val="E6EAF5"/>
                </a:solidFill>
                <a:latin typeface="Consolas"/>
              </a:rPr>
              <a:t>def summarize_data(title: str, *args: int, **kwargs: str) -&gt; None:</a:t>
            </a:r>
          </a:p>
          <a:p>
            <a:pPr algn="l"/>
            <a:r>
              <a:rPr sz="1600" b="0">
                <a:solidFill>
                  <a:srgbClr val="E6EAF5"/>
                </a:solidFill>
                <a:latin typeface="Consolas"/>
              </a:rPr>
              <a:t>    total = sum(args)</a:t>
            </a:r>
          </a:p>
          <a:p>
            <a:pPr algn="l"/>
            <a:r>
              <a:rPr sz="1600" b="0">
                <a:solidFill>
                  <a:srgbClr val="E6EAF5"/>
                </a:solidFill>
                <a:latin typeface="Consolas"/>
              </a:rPr>
              <a:t>    print(f'Title: {title}')</a:t>
            </a:r>
          </a:p>
          <a:p>
            <a:pPr algn="l"/>
            <a:r>
              <a:rPr sz="1600" b="0">
                <a:solidFill>
                  <a:srgbClr val="E6EAF5"/>
                </a:solidFill>
                <a:latin typeface="Consolas"/>
              </a:rPr>
              <a:t>    print(f'Sum: {total}')</a:t>
            </a:r>
          </a:p>
          <a:p>
            <a:pPr algn="l"/>
            <a:r>
              <a:rPr sz="1600" b="0">
                <a:solidFill>
                  <a:srgbClr val="E6EAF5"/>
                </a:solidFill>
                <a:latin typeface="Consolas"/>
              </a:rPr>
              <a:t>    for key, value in kwargs.items():</a:t>
            </a:r>
          </a:p>
          <a:p>
            <a:pPr algn="l"/>
            <a:r>
              <a:rPr sz="1600" b="0">
                <a:solidFill>
                  <a:srgbClr val="E6EAF5"/>
                </a:solidFill>
                <a:latin typeface="Consolas"/>
              </a:rPr>
              <a:t>        print(f'{key}: {value}')</a:t>
            </a:r>
          </a:p>
          <a:p>
            <a:pPr algn="l"/>
            <a:r>
              <a:rPr sz="1600" b="0">
                <a:solidFill>
                  <a:srgbClr val="E6EAF5"/>
                </a:solidFill>
                <a:latin typeface="Consolas"/>
              </a:rPr>
              <a:t/>
            </a:r>
          </a:p>
          <a:p>
            <a:pPr algn="l"/>
            <a:r>
              <a:rPr sz="1600" b="0">
                <a:solidFill>
                  <a:srgbClr val="E6EAF5"/>
                </a:solidFill>
                <a:latin typeface="Consolas"/>
              </a:rPr>
              <a:t>summarize_data('Sales Report', 10, 20, 30, author='Alice', status='Final')</a:t>
            </a:r>
          </a:p>
        </p:txBody>
      </p:sp>
      <p:sp>
        <p:nvSpPr>
          <p:cNvPr id="8" name="Rounded Rectangle 7"/>
          <p:cNvSpPr/>
          <p:nvPr/>
        </p:nvSpPr>
        <p:spPr>
          <a:xfrm>
            <a:off x="7897782" y="1828800"/>
            <a:ext cx="3653832" cy="4160520"/>
          </a:xfrm>
          <a:prstGeom prst="roundRect">
            <a:avLst>
              <a:gd name="adj" fmla="val 3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26382" y="2011680"/>
            <a:ext cx="3196632" cy="274320"/>
          </a:xfrm>
          <a:prstGeom prst="rect">
            <a:avLst/>
          </a:prstGeom>
          <a:noFill/>
        </p:spPr>
        <p:txBody>
          <a:bodyPr wrap="square" anchor="t" lIns="0" rIns="0" tIns="0" bIns="0">
            <a:spAutoFit/>
          </a:bodyPr>
          <a:lstStyle/>
          <a:p>
            <a:pPr algn="l"/>
            <a:r>
              <a:rPr sz="1200" b="1">
                <a:solidFill>
                  <a:srgbClr val="1F7A4D"/>
                </a:solidFill>
                <a:latin typeface="Segoe UI"/>
              </a:rPr>
              <a:t>OUTPUT</a:t>
            </a:r>
          </a:p>
        </p:txBody>
      </p:sp>
      <p:sp>
        <p:nvSpPr>
          <p:cNvPr id="10" name="TextBox 9"/>
          <p:cNvSpPr txBox="1"/>
          <p:nvPr/>
        </p:nvSpPr>
        <p:spPr>
          <a:xfrm>
            <a:off x="8126382" y="2377440"/>
            <a:ext cx="3196632" cy="3429000"/>
          </a:xfrm>
          <a:prstGeom prst="rect">
            <a:avLst/>
          </a:prstGeom>
          <a:noFill/>
        </p:spPr>
        <p:txBody>
          <a:bodyPr wrap="square">
            <a:spAutoFit/>
          </a:bodyPr>
          <a:lstStyle/>
          <a:p>
            <a:pPr algn="l"/>
            <a:r>
              <a:rPr sz="1300" b="0">
                <a:solidFill>
                  <a:srgbClr val="1B2540"/>
                </a:solidFill>
                <a:latin typeface="Consolas"/>
              </a:rPr>
              <a:t>Title: Sales Report</a:t>
            </a:r>
          </a:p>
          <a:p>
            <a:pPr algn="l"/>
            <a:r>
              <a:rPr sz="1300" b="0">
                <a:solidFill>
                  <a:srgbClr val="1B2540"/>
                </a:solidFill>
                <a:latin typeface="Consolas"/>
              </a:rPr>
              <a:t>Sum: 60</a:t>
            </a:r>
          </a:p>
          <a:p>
            <a:pPr algn="l"/>
            <a:r>
              <a:rPr sz="1300" b="0">
                <a:solidFill>
                  <a:srgbClr val="1B2540"/>
                </a:solidFill>
                <a:latin typeface="Consolas"/>
              </a:rPr>
              <a:t>author: Alice</a:t>
            </a:r>
          </a:p>
          <a:p>
            <a:pPr algn="l"/>
            <a:r>
              <a:rPr sz="1300" b="0">
                <a:solidFill>
                  <a:srgbClr val="1B2540"/>
                </a:solidFill>
                <a:latin typeface="Consolas"/>
              </a:rPr>
              <a:t>status: Final</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1</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l"/>
            <a:r>
              <a:rPr sz="2400" b="1">
                <a:solidFill>
                  <a:srgbClr val="1B2540"/>
                </a:solidFill>
                <a:latin typeface="Segoe UI"/>
              </a:rPr>
              <a:t>What is the primary purpose of using the slash (/) in a Python function signature?</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A.  To force all preceding arguments to be positional-only</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400" b="0">
                <a:solidFill>
                  <a:srgbClr val="1B2540"/>
                </a:solidFill>
                <a:latin typeface="Segoe UI"/>
              </a:rPr>
              <a:t>B.  To allow arguments to be passed as either keyword or positional</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400" b="0">
                <a:solidFill>
                  <a:srgbClr val="1B2540"/>
                </a:solidFill>
                <a:latin typeface="Segoe UI"/>
              </a:rPr>
              <a:t>C.  To indicate that the function accepts a variable number of arguments</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D.  To mark the end of keyword-only arguments in the signature</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1</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l"/>
            <a:r>
              <a:rPr sz="2400" b="1">
                <a:solidFill>
                  <a:srgbClr val="1B2540"/>
                </a:solidFill>
                <a:latin typeface="Segoe UI"/>
              </a:rPr>
              <a:t>What is the primary purpose of using the slash (/) in a Python function signature?</a:t>
            </a:r>
          </a:p>
        </p:txBody>
      </p:sp>
      <p:sp>
        <p:nvSpPr>
          <p:cNvPr id="6" name="Rounded Rectangle 5"/>
          <p:cNvSpPr/>
          <p:nvPr/>
        </p:nvSpPr>
        <p:spPr>
          <a:xfrm>
            <a:off x="640080" y="205740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1">
                <a:solidFill>
                  <a:srgbClr val="1F7A4D"/>
                </a:solidFill>
                <a:latin typeface="Segoe UI"/>
              </a:rPr>
              <a:t>A.  To force all preceding arguments to be positional-only</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400" b="0">
                <a:solidFill>
                  <a:srgbClr val="1B2540"/>
                </a:solidFill>
                <a:latin typeface="Segoe UI"/>
              </a:rPr>
              <a:t>B.  To allow arguments to be passed as either keyword or positional</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400" b="0">
                <a:solidFill>
                  <a:srgbClr val="1B2540"/>
                </a:solidFill>
                <a:latin typeface="Segoe UI"/>
              </a:rPr>
              <a:t>C.  To indicate that the function accepts a variable number of arguments</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D.  To mark the end of keyword-only arguments in the signature</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تستخدم العلامة (/) في Python لتحديد أن المعاملات التي تسبقها يجب أن تُمرر كمواقع (positional-only) فقط ولا يمكن تمريرها كأسماء مفاتيح.</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2</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l"/>
            <a:r>
              <a:rPr sz="2400" b="1">
                <a:solidFill>
                  <a:srgbClr val="1B2540"/>
                </a:solidFill>
                <a:latin typeface="Segoe UI"/>
              </a:rPr>
              <a:t>Given the function definition 'def func(*args, **kwargs):', what does **kwargs represent?</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A.  A tuple containing all positional arguments passed</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B.  A dictionary containing all keyword arguments passed</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C.  A list of mandatory arguments required by the function</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D.  A set of unique values passed as keyword arguments</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2</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l"/>
            <a:r>
              <a:rPr sz="2400" b="1">
                <a:solidFill>
                  <a:srgbClr val="1B2540"/>
                </a:solidFill>
                <a:latin typeface="Segoe UI"/>
              </a:rPr>
              <a:t>Given the function definition 'def func(*args, **kwargs):', what does **kwargs represent?</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A.  A tuple containing all positional arguments passed</a:t>
            </a:r>
          </a:p>
        </p:txBody>
      </p:sp>
      <p:sp>
        <p:nvSpPr>
          <p:cNvPr id="7" name="Rounded Rectangle 6"/>
          <p:cNvSpPr/>
          <p:nvPr/>
        </p:nvSpPr>
        <p:spPr>
          <a:xfrm>
            <a:off x="6233007" y="205740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1">
                <a:solidFill>
                  <a:srgbClr val="1F7A4D"/>
                </a:solidFill>
                <a:latin typeface="Segoe UI"/>
              </a:rPr>
              <a:t>B.  A dictionary containing all keyword arguments passed</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C.  A list of mandatory arguments required by the function</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D.  A set of unique values passed as keyword arguments</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يقوم المعامل **kwargs بتجميع كافة المعاملات المسماة (keyword arguments) التي يتم تمريرها للدالة في قاموس (dictionary).</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3</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l"/>
            <a:r>
              <a:rPr sz="2400" b="1">
                <a:solidFill>
                  <a:srgbClr val="1B2540"/>
                </a:solidFill>
                <a:latin typeface="Segoe UI"/>
              </a:rPr>
              <a:t>Which of the following is the correct syntax for adding type hints to a function parameter?</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A.  def greet(name: str) -&gt; None:</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B.  def greet(name = str):</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C.  def greet(name: 'str'):</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D.  def greet(name as str):</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3</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l"/>
            <a:r>
              <a:rPr sz="2400" b="1">
                <a:solidFill>
                  <a:srgbClr val="1B2540"/>
                </a:solidFill>
                <a:latin typeface="Segoe UI"/>
              </a:rPr>
              <a:t>Which of the following is the correct syntax for adding type hints to a function parameter?</a:t>
            </a:r>
          </a:p>
        </p:txBody>
      </p:sp>
      <p:sp>
        <p:nvSpPr>
          <p:cNvPr id="6" name="Rounded Rectangle 5"/>
          <p:cNvSpPr/>
          <p:nvPr/>
        </p:nvSpPr>
        <p:spPr>
          <a:xfrm>
            <a:off x="640080" y="205740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1">
                <a:solidFill>
                  <a:srgbClr val="1F7A4D"/>
                </a:solidFill>
                <a:latin typeface="Segoe UI"/>
              </a:rPr>
              <a:t>A.  def greet(name: str) -&gt; None:</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B.  def greet(name = str):</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C.  def greet(name: 'str'):</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D.  def greet(name as str):</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تستخدم Python النقطتين الرأسيتين (:) لتحديد نوع المعامل، بينما يستخدم السهم (-&gt;) لتحديد نوع القيمة التي ترجعها الدالة.</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ملخص الجلسة والتمارين</a:t>
            </a:r>
          </a:p>
        </p:txBody>
      </p:sp>
      <p:sp>
        <p:nvSpPr>
          <p:cNvPr id="5" name="Rectangle 4"/>
          <p:cNvSpPr/>
          <p:nvPr/>
        </p:nvSpPr>
        <p:spPr>
          <a:xfrm>
            <a:off x="11405311"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إتقان التحكم في وسائط الدوال</a:t>
            </a:r>
          </a:p>
        </p:txBody>
      </p:sp>
      <p:sp>
        <p:nvSpPr>
          <p:cNvPr id="7" name="Rectangle 6"/>
          <p:cNvSpPr/>
          <p:nvPr/>
        </p:nvSpPr>
        <p:spPr>
          <a:xfrm>
            <a:off x="11405311"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استخدام القيود لتعزيز أمان الكود</a:t>
            </a:r>
          </a:p>
        </p:txBody>
      </p:sp>
      <p:sp>
        <p:nvSpPr>
          <p:cNvPr id="9" name="Rectangle 8"/>
          <p:cNvSpPr/>
          <p:nvPr/>
        </p:nvSpPr>
        <p:spPr>
          <a:xfrm>
            <a:off x="11405311"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تطبيق تلميحات الأنواع لرفع الجودة</a:t>
            </a:r>
          </a:p>
        </p:txBody>
      </p:sp>
      <p:sp>
        <p:nvSpPr>
          <p:cNvPr id="11" name="Rectangle 10"/>
          <p:cNvSpPr/>
          <p:nvPr/>
        </p:nvSpPr>
        <p:spPr>
          <a:xfrm>
            <a:off x="11405311"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الانتقال إلى التمرين العملي لإعادة الهيكلة</a:t>
            </a:r>
          </a:p>
        </p:txBody>
      </p:sp>
      <p:sp>
        <p:nvSpPr>
          <p:cNvPr id="13" name="Rectangle 12"/>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5" name="TextBox 14"/>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